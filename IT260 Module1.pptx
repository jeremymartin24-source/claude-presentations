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80001"/>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FFFFFF"/>
            </a:solidFill>
            <a:prstDash val="solid"/>
          </a:ln>
        </p:spPr>
      </p:sp>
      <p:pic>
        <p:nvPicPr>
          <p:cNvPr id="3" name="Image 0" descr="/home/claude/unoh_logo.png">    </p:cNvPr>
          <p:cNvPicPr>
            <a:picLocks noChangeAspect="1"/>
          </p:cNvPicPr>
          <p:nvPr/>
        </p:nvPicPr>
        <p:blipFill>
          <a:blip r:embed="rId1"/>
          <a:srcRect l="0" r="0" t="0" b="0"/>
          <a:stretch/>
        </p:blipFill>
        <p:spPr>
          <a:xfrm>
            <a:off x="274320" y="73152"/>
            <a:ext cx="2377440" cy="896112"/>
          </a:xfrm>
          <a:prstGeom prst="rect">
            <a:avLst/>
          </a:prstGeom>
        </p:spPr>
      </p:pic>
      <p:sp>
        <p:nvSpPr>
          <p:cNvPr id="4" name="Text 1"/>
          <p:cNvSpPr/>
          <p:nvPr/>
        </p:nvSpPr>
        <p:spPr>
          <a:xfrm>
            <a:off x="2926080" y="256032"/>
            <a:ext cx="5943600" cy="502920"/>
          </a:xfrm>
          <a:prstGeom prst="rect">
            <a:avLst/>
          </a:prstGeom>
          <a:noFill/>
          <a:ln/>
        </p:spPr>
        <p:txBody>
          <a:bodyPr wrap="square" rtlCol="0" anchor="ctr"/>
          <a:lstStyle/>
          <a:p>
            <a:pPr algn="r" indent="0" marL="0">
              <a:buNone/>
            </a:pPr>
            <a:r>
              <a:rPr lang="en-US" sz="1300" dirty="0">
                <a:solidFill>
                  <a:srgbClr val="333333"/>
                </a:solidFill>
                <a:latin typeface="Calibri" pitchFamily="34" charset="0"/>
                <a:ea typeface="Calibri" pitchFamily="34" charset="-122"/>
                <a:cs typeface="Calibri" pitchFamily="34" charset="-120"/>
              </a:rPr>
              <a:t>IT260 · IT Risk Management</a:t>
            </a:r>
            <a:endParaRPr lang="en-US" sz="1300" dirty="0"/>
          </a:p>
        </p:txBody>
      </p:sp>
      <p:sp>
        <p:nvSpPr>
          <p:cNvPr id="5" name="Shape 2"/>
          <p:cNvSpPr/>
          <p:nvPr/>
        </p:nvSpPr>
        <p:spPr>
          <a:xfrm>
            <a:off x="457200" y="1389888"/>
            <a:ext cx="1554480" cy="384048"/>
          </a:xfrm>
          <a:prstGeom prst="rect">
            <a:avLst>
              <a:gd name="adj" fmla="val 9524"/>
            </a:avLst>
          </a:prstGeom>
          <a:solidFill>
            <a:srgbClr val="FFFFFF">
              <a:alpha val="85000"/>
            </a:srgbClr>
          </a:solidFill>
          <a:ln w="12700">
            <a:solidFill>
              <a:srgbClr val="FFFFFF">
                <a:alpha val="60000"/>
              </a:srgbClr>
            </a:solidFill>
            <a:prstDash val="solid"/>
          </a:ln>
        </p:spPr>
      </p:sp>
      <p:sp>
        <p:nvSpPr>
          <p:cNvPr id="6" name="Text 3"/>
          <p:cNvSpPr/>
          <p:nvPr/>
        </p:nvSpPr>
        <p:spPr>
          <a:xfrm>
            <a:off x="457200" y="1389888"/>
            <a:ext cx="155448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MODULE 1</a:t>
            </a:r>
            <a:endParaRPr lang="en-US" sz="1100" dirty="0"/>
          </a:p>
        </p:txBody>
      </p:sp>
      <p:sp>
        <p:nvSpPr>
          <p:cNvPr id="7" name="Text 4"/>
          <p:cNvSpPr/>
          <p:nvPr/>
        </p:nvSpPr>
        <p:spPr>
          <a:xfrm>
            <a:off x="457200" y="1828800"/>
            <a:ext cx="8229600" cy="1737360"/>
          </a:xfrm>
          <a:prstGeom prst="rect">
            <a:avLst/>
          </a:prstGeom>
          <a:noFill/>
          <a:ln/>
        </p:spPr>
        <p:txBody>
          <a:bodyPr wrap="square"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Introduction to</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IT Risk Management</a:t>
            </a:r>
            <a:endParaRPr lang="en-US" sz="4800" dirty="0"/>
          </a:p>
        </p:txBody>
      </p:sp>
      <p:sp>
        <p:nvSpPr>
          <p:cNvPr id="8" name="Text 5"/>
          <p:cNvSpPr/>
          <p:nvPr/>
        </p:nvSpPr>
        <p:spPr>
          <a:xfrm>
            <a:off x="457200" y="3547872"/>
            <a:ext cx="7772400" cy="548640"/>
          </a:xfrm>
          <a:prstGeom prst="rect">
            <a:avLst/>
          </a:prstGeom>
          <a:noFill/>
          <a:ln/>
        </p:spPr>
        <p:txBody>
          <a:bodyPr wrap="square" rtlCol="0" anchor="ctr"/>
          <a:lstStyle/>
          <a:p>
            <a:pPr indent="0" marL="0">
              <a:buNone/>
            </a:pPr>
            <a:r>
              <a:rPr lang="en-US" sz="1500" i="1" dirty="0">
                <a:solidFill>
                  <a:srgbClr val="F5C0C0"/>
                </a:solidFill>
                <a:latin typeface="Calibri" pitchFamily="34" charset="0"/>
                <a:ea typeface="Calibri" pitchFamily="34" charset="-122"/>
                <a:cs typeface="Calibri" pitchFamily="34" charset="-120"/>
              </a:rPr>
              <a:t>How businesses depend on technology — and what happens when that technology fails</a:t>
            </a:r>
            <a:endParaRPr lang="en-US" sz="1500" dirty="0"/>
          </a:p>
        </p:txBody>
      </p:sp>
      <p:sp>
        <p:nvSpPr>
          <p:cNvPr id="9" name="Shape 6"/>
          <p:cNvSpPr/>
          <p:nvPr/>
        </p:nvSpPr>
        <p:spPr>
          <a:xfrm>
            <a:off x="0" y="4315968"/>
            <a:ext cx="9144000" cy="827532"/>
          </a:xfrm>
          <a:prstGeom prst="rect">
            <a:avLst/>
          </a:prstGeom>
          <a:solidFill>
            <a:srgbClr val="4A0001"/>
          </a:solidFill>
          <a:ln w="12700">
            <a:solidFill>
              <a:srgbClr val="4A0001"/>
            </a:solidFill>
            <a:prstDash val="solid"/>
          </a:ln>
        </p:spPr>
      </p:sp>
      <p:sp>
        <p:nvSpPr>
          <p:cNvPr id="10" name="Text 7"/>
          <p:cNvSpPr/>
          <p:nvPr/>
        </p:nvSpPr>
        <p:spPr>
          <a:xfrm>
            <a:off x="457200" y="4334256"/>
            <a:ext cx="8229600" cy="786384"/>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Professor Martin  ·  University of Northwestern Ohio  ·  Fall 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Module 1 · Overview</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Text 2"/>
          <p:cNvSpPr/>
          <p:nvPr/>
        </p:nvSpPr>
        <p:spPr>
          <a:xfrm>
            <a:off x="411480" y="1078992"/>
            <a:ext cx="8321040" cy="59436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This module establishes the foundation for everything that follows in this course. By understanding how deeply modern organizations depend on technology, you will begin to see why protecting that technology is not optional — it is essential.</a:t>
            </a:r>
            <a:endParaRPr lang="en-US" sz="1300" dirty="0"/>
          </a:p>
        </p:txBody>
      </p:sp>
      <p:sp>
        <p:nvSpPr>
          <p:cNvPr id="6" name="Shape 3"/>
          <p:cNvSpPr/>
          <p:nvPr/>
        </p:nvSpPr>
        <p:spPr>
          <a:xfrm>
            <a:off x="365760" y="1783080"/>
            <a:ext cx="4206240" cy="135331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7" name="Shape 4"/>
          <p:cNvSpPr/>
          <p:nvPr/>
        </p:nvSpPr>
        <p:spPr>
          <a:xfrm>
            <a:off x="365760" y="1783080"/>
            <a:ext cx="4206240" cy="54864"/>
          </a:xfrm>
          <a:prstGeom prst="rect">
            <a:avLst/>
          </a:prstGeom>
          <a:solidFill>
            <a:srgbClr val="680001"/>
          </a:solidFill>
          <a:ln w="12700">
            <a:solidFill>
              <a:srgbClr val="680001"/>
            </a:solidFill>
            <a:prstDash val="solid"/>
          </a:ln>
        </p:spPr>
      </p:sp>
      <p:sp>
        <p:nvSpPr>
          <p:cNvPr id="8" name="Text 5"/>
          <p:cNvSpPr/>
          <p:nvPr/>
        </p:nvSpPr>
        <p:spPr>
          <a:xfrm>
            <a:off x="493776" y="1874520"/>
            <a:ext cx="3931920" cy="411480"/>
          </a:xfrm>
          <a:prstGeom prst="rect">
            <a:avLst/>
          </a:prstGeom>
          <a:noFill/>
          <a:ln/>
        </p:spPr>
        <p:txBody>
          <a:bodyPr wrap="square" rtlCol="0" anchor="ctr"/>
          <a:lstStyle/>
          <a:p>
            <a:pPr indent="0" marL="0">
              <a:buNone/>
            </a:pPr>
            <a:r>
              <a:rPr lang="en-US" sz="1300" b="1" dirty="0">
                <a:solidFill>
                  <a:srgbClr val="680001"/>
                </a:solidFill>
                <a:latin typeface="Calibri" pitchFamily="34" charset="0"/>
                <a:ea typeface="Calibri" pitchFamily="34" charset="-122"/>
                <a:cs typeface="Calibri" pitchFamily="34" charset="-120"/>
              </a:rPr>
              <a:t>How Businesses Depend on IT</a:t>
            </a:r>
            <a:endParaRPr lang="en-US" sz="1300" dirty="0"/>
          </a:p>
        </p:txBody>
      </p:sp>
      <p:sp>
        <p:nvSpPr>
          <p:cNvPr id="9" name="Text 6"/>
          <p:cNvSpPr/>
          <p:nvPr/>
        </p:nvSpPr>
        <p:spPr>
          <a:xfrm>
            <a:off x="493776" y="2295144"/>
            <a:ext cx="3931920" cy="77724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Every modern organization — regardless of industry — relies on information systems, digital processes, and data to function. We examine what that dependence looks like and what it means for risk.</a:t>
            </a:r>
            <a:endParaRPr lang="en-US" sz="1150" dirty="0"/>
          </a:p>
        </p:txBody>
      </p:sp>
      <p:sp>
        <p:nvSpPr>
          <p:cNvPr id="10" name="Shape 7"/>
          <p:cNvSpPr/>
          <p:nvPr/>
        </p:nvSpPr>
        <p:spPr>
          <a:xfrm>
            <a:off x="4800600" y="1783080"/>
            <a:ext cx="4206240" cy="135331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1" name="Shape 8"/>
          <p:cNvSpPr/>
          <p:nvPr/>
        </p:nvSpPr>
        <p:spPr>
          <a:xfrm>
            <a:off x="4800600" y="1783080"/>
            <a:ext cx="4206240" cy="54864"/>
          </a:xfrm>
          <a:prstGeom prst="rect">
            <a:avLst/>
          </a:prstGeom>
          <a:solidFill>
            <a:srgbClr val="680001"/>
          </a:solidFill>
          <a:ln w="12700">
            <a:solidFill>
              <a:srgbClr val="680001"/>
            </a:solidFill>
            <a:prstDash val="solid"/>
          </a:ln>
        </p:spPr>
      </p:sp>
      <p:sp>
        <p:nvSpPr>
          <p:cNvPr id="12" name="Text 9"/>
          <p:cNvSpPr/>
          <p:nvPr/>
        </p:nvSpPr>
        <p:spPr>
          <a:xfrm>
            <a:off x="4928616" y="1874520"/>
            <a:ext cx="3931920" cy="411480"/>
          </a:xfrm>
          <a:prstGeom prst="rect">
            <a:avLst/>
          </a:prstGeom>
          <a:noFill/>
          <a:ln/>
        </p:spPr>
        <p:txBody>
          <a:bodyPr wrap="square" rtlCol="0" anchor="ctr"/>
          <a:lstStyle/>
          <a:p>
            <a:pPr indent="0" marL="0">
              <a:buNone/>
            </a:pPr>
            <a:r>
              <a:rPr lang="en-US" sz="1300" b="1" dirty="0">
                <a:solidFill>
                  <a:srgbClr val="680001"/>
                </a:solidFill>
                <a:latin typeface="Calibri" pitchFamily="34" charset="0"/>
                <a:ea typeface="Calibri" pitchFamily="34" charset="-122"/>
                <a:cs typeface="Calibri" pitchFamily="34" charset="-120"/>
              </a:rPr>
              <a:t>The CIA Triad</a:t>
            </a:r>
            <a:endParaRPr lang="en-US" sz="1300" dirty="0"/>
          </a:p>
        </p:txBody>
      </p:sp>
      <p:sp>
        <p:nvSpPr>
          <p:cNvPr id="13" name="Text 10"/>
          <p:cNvSpPr/>
          <p:nvPr/>
        </p:nvSpPr>
        <p:spPr>
          <a:xfrm>
            <a:off x="4928616" y="2295144"/>
            <a:ext cx="3931920" cy="77724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Confidentiality, Integrity, and Availability are the three pillars of information security. We connect each one to real business consequences when they are violated or disrupted.</a:t>
            </a:r>
            <a:endParaRPr lang="en-US" sz="1150" dirty="0"/>
          </a:p>
        </p:txBody>
      </p:sp>
      <p:sp>
        <p:nvSpPr>
          <p:cNvPr id="14" name="Shape 11"/>
          <p:cNvSpPr/>
          <p:nvPr/>
        </p:nvSpPr>
        <p:spPr>
          <a:xfrm>
            <a:off x="365760" y="3264408"/>
            <a:ext cx="4206240" cy="135331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5" name="Shape 12"/>
          <p:cNvSpPr/>
          <p:nvPr/>
        </p:nvSpPr>
        <p:spPr>
          <a:xfrm>
            <a:off x="365760" y="3264408"/>
            <a:ext cx="4206240" cy="54864"/>
          </a:xfrm>
          <a:prstGeom prst="rect">
            <a:avLst/>
          </a:prstGeom>
          <a:solidFill>
            <a:srgbClr val="680001"/>
          </a:solidFill>
          <a:ln w="12700">
            <a:solidFill>
              <a:srgbClr val="680001"/>
            </a:solidFill>
            <a:prstDash val="solid"/>
          </a:ln>
        </p:spPr>
      </p:sp>
      <p:sp>
        <p:nvSpPr>
          <p:cNvPr id="16" name="Text 13"/>
          <p:cNvSpPr/>
          <p:nvPr/>
        </p:nvSpPr>
        <p:spPr>
          <a:xfrm>
            <a:off x="493776" y="3355848"/>
            <a:ext cx="3931920" cy="411480"/>
          </a:xfrm>
          <a:prstGeom prst="rect">
            <a:avLst/>
          </a:prstGeom>
          <a:noFill/>
          <a:ln/>
        </p:spPr>
        <p:txBody>
          <a:bodyPr wrap="square" rtlCol="0" anchor="ctr"/>
          <a:lstStyle/>
          <a:p>
            <a:pPr indent="0" marL="0">
              <a:buNone/>
            </a:pPr>
            <a:r>
              <a:rPr lang="en-US" sz="1300" b="1" dirty="0">
                <a:solidFill>
                  <a:srgbClr val="680001"/>
                </a:solidFill>
                <a:latin typeface="Calibri" pitchFamily="34" charset="0"/>
                <a:ea typeface="Calibri" pitchFamily="34" charset="-122"/>
                <a:cs typeface="Calibri" pitchFamily="34" charset="-120"/>
              </a:rPr>
              <a:t>Technology Use vs. Technology Risk</a:t>
            </a:r>
            <a:endParaRPr lang="en-US" sz="1300" dirty="0"/>
          </a:p>
        </p:txBody>
      </p:sp>
      <p:sp>
        <p:nvSpPr>
          <p:cNvPr id="17" name="Text 14"/>
          <p:cNvSpPr/>
          <p:nvPr/>
        </p:nvSpPr>
        <p:spPr>
          <a:xfrm>
            <a:off x="493776" y="3776472"/>
            <a:ext cx="3931920" cy="77724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Using technology and managing its risks are two different things. This module establishes that critical distinction, which will guide your thinking throughout the entire course.</a:t>
            </a:r>
            <a:endParaRPr lang="en-US" sz="1150" dirty="0"/>
          </a:p>
        </p:txBody>
      </p:sp>
      <p:sp>
        <p:nvSpPr>
          <p:cNvPr id="18" name="Shape 15"/>
          <p:cNvSpPr/>
          <p:nvPr/>
        </p:nvSpPr>
        <p:spPr>
          <a:xfrm>
            <a:off x="4800600" y="3264408"/>
            <a:ext cx="4206240" cy="135331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9" name="Shape 16"/>
          <p:cNvSpPr/>
          <p:nvPr/>
        </p:nvSpPr>
        <p:spPr>
          <a:xfrm>
            <a:off x="4800600" y="3264408"/>
            <a:ext cx="4206240" cy="54864"/>
          </a:xfrm>
          <a:prstGeom prst="rect">
            <a:avLst/>
          </a:prstGeom>
          <a:solidFill>
            <a:srgbClr val="680001"/>
          </a:solidFill>
          <a:ln w="12700">
            <a:solidFill>
              <a:srgbClr val="680001"/>
            </a:solidFill>
            <a:prstDash val="solid"/>
          </a:ln>
        </p:spPr>
      </p:sp>
      <p:sp>
        <p:nvSpPr>
          <p:cNvPr id="20" name="Text 17"/>
          <p:cNvSpPr/>
          <p:nvPr/>
        </p:nvSpPr>
        <p:spPr>
          <a:xfrm>
            <a:off x="4928616" y="3355848"/>
            <a:ext cx="3931920" cy="411480"/>
          </a:xfrm>
          <a:prstGeom prst="rect">
            <a:avLst/>
          </a:prstGeom>
          <a:noFill/>
          <a:ln/>
        </p:spPr>
        <p:txBody>
          <a:bodyPr wrap="square" rtlCol="0" anchor="ctr"/>
          <a:lstStyle/>
          <a:p>
            <a:pPr indent="0" marL="0">
              <a:buNone/>
            </a:pPr>
            <a:r>
              <a:rPr lang="en-US" sz="1300" b="1" dirty="0">
                <a:solidFill>
                  <a:srgbClr val="680001"/>
                </a:solidFill>
                <a:latin typeface="Calibri" pitchFamily="34" charset="0"/>
                <a:ea typeface="Calibri" pitchFamily="34" charset="-122"/>
                <a:cs typeface="Calibri" pitchFamily="34" charset="-120"/>
              </a:rPr>
              <a:t>How Disruptions Ripple Through Organizations</a:t>
            </a:r>
            <a:endParaRPr lang="en-US" sz="1300" dirty="0"/>
          </a:p>
        </p:txBody>
      </p:sp>
      <p:sp>
        <p:nvSpPr>
          <p:cNvPr id="21" name="Text 18"/>
          <p:cNvSpPr/>
          <p:nvPr/>
        </p:nvSpPr>
        <p:spPr>
          <a:xfrm>
            <a:off x="4928616" y="3776472"/>
            <a:ext cx="3931920" cy="77724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When systems, devices, or data are compromised, the impact reaches operations, finances, and reputation. We trace those ripple effects using real-world examples.</a:t>
            </a:r>
            <a:endParaRPr lang="en-US" sz="1150" dirty="0"/>
          </a:p>
        </p:txBody>
      </p:sp>
      <p:sp>
        <p:nvSpPr>
          <p:cNvPr id="22" name="Shape 19"/>
          <p:cNvSpPr/>
          <p:nvPr/>
        </p:nvSpPr>
        <p:spPr>
          <a:xfrm>
            <a:off x="0" y="4800600"/>
            <a:ext cx="9144000" cy="342900"/>
          </a:xfrm>
          <a:prstGeom prst="rect">
            <a:avLst/>
          </a:prstGeom>
          <a:solidFill>
            <a:srgbClr val="680001"/>
          </a:solidFill>
          <a:ln w="12700">
            <a:solidFill>
              <a:srgbClr val="680001"/>
            </a:solidFill>
            <a:prstDash val="solid"/>
          </a:ln>
        </p:spPr>
      </p:sp>
      <p:sp>
        <p:nvSpPr>
          <p:cNvPr id="23" name="Text 20"/>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24" name="Text 21"/>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Module 1 · Learning Objectives</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Text 2"/>
          <p:cNvSpPr/>
          <p:nvPr/>
        </p:nvSpPr>
        <p:spPr>
          <a:xfrm>
            <a:off x="457200" y="1078992"/>
            <a:ext cx="8229600" cy="320040"/>
          </a:xfrm>
          <a:prstGeom prst="rect">
            <a:avLst/>
          </a:prstGeom>
          <a:noFill/>
          <a:ln/>
        </p:spPr>
        <p:txBody>
          <a:bodyPr wrap="square" rtlCol="0" anchor="ctr"/>
          <a:lstStyle/>
          <a:p>
            <a:pPr indent="0" marL="0">
              <a:buNone/>
            </a:pPr>
            <a:r>
              <a:rPr lang="en-US" sz="1350" i="1" dirty="0">
                <a:solidFill>
                  <a:srgbClr val="333333"/>
                </a:solidFill>
                <a:latin typeface="Calibri" pitchFamily="34" charset="0"/>
                <a:ea typeface="Calibri" pitchFamily="34" charset="-122"/>
                <a:cs typeface="Calibri" pitchFamily="34" charset="-120"/>
              </a:rPr>
              <a:t>By the end of this module, you will be able to:</a:t>
            </a:r>
            <a:endParaRPr lang="en-US" sz="1350" dirty="0"/>
          </a:p>
        </p:txBody>
      </p:sp>
      <p:sp>
        <p:nvSpPr>
          <p:cNvPr id="6" name="Shape 3"/>
          <p:cNvSpPr/>
          <p:nvPr/>
        </p:nvSpPr>
        <p:spPr>
          <a:xfrm>
            <a:off x="365760" y="1481328"/>
            <a:ext cx="8412480" cy="576072"/>
          </a:xfrm>
          <a:prstGeom prst="rect">
            <a:avLst/>
          </a:prstGeom>
          <a:solidFill>
            <a:srgbClr val="F5F5F5"/>
          </a:solidFill>
          <a:ln w="12700">
            <a:solidFill>
              <a:srgbClr val="DDDDDD"/>
            </a:solidFill>
            <a:prstDash val="solid"/>
          </a:ln>
        </p:spPr>
      </p:sp>
      <p:sp>
        <p:nvSpPr>
          <p:cNvPr id="7" name="Shape 4"/>
          <p:cNvSpPr/>
          <p:nvPr/>
        </p:nvSpPr>
        <p:spPr>
          <a:xfrm>
            <a:off x="365760" y="1481328"/>
            <a:ext cx="566928" cy="576072"/>
          </a:xfrm>
          <a:prstGeom prst="rect">
            <a:avLst/>
          </a:prstGeom>
          <a:solidFill>
            <a:srgbClr val="680001"/>
          </a:solidFill>
          <a:ln w="12700">
            <a:solidFill>
              <a:srgbClr val="680001"/>
            </a:solidFill>
            <a:prstDash val="solid"/>
          </a:ln>
        </p:spPr>
      </p:sp>
      <p:sp>
        <p:nvSpPr>
          <p:cNvPr id="8" name="Text 5"/>
          <p:cNvSpPr/>
          <p:nvPr/>
        </p:nvSpPr>
        <p:spPr>
          <a:xfrm>
            <a:off x="365760" y="1481328"/>
            <a:ext cx="566928" cy="5760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6"/>
          <p:cNvSpPr/>
          <p:nvPr/>
        </p:nvSpPr>
        <p:spPr>
          <a:xfrm>
            <a:off x="1024128" y="1545336"/>
            <a:ext cx="763524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Describe how modern organizations depend on information systems, digital processes, and data to conduct daily operations</a:t>
            </a:r>
            <a:endParaRPr lang="en-US" sz="1300" dirty="0"/>
          </a:p>
        </p:txBody>
      </p:sp>
      <p:sp>
        <p:nvSpPr>
          <p:cNvPr id="10" name="Shape 7"/>
          <p:cNvSpPr/>
          <p:nvPr/>
        </p:nvSpPr>
        <p:spPr>
          <a:xfrm>
            <a:off x="365760" y="2130552"/>
            <a:ext cx="8412480" cy="576072"/>
          </a:xfrm>
          <a:prstGeom prst="rect">
            <a:avLst/>
          </a:prstGeom>
          <a:solidFill>
            <a:srgbClr val="FFFFFF"/>
          </a:solidFill>
          <a:ln w="12700">
            <a:solidFill>
              <a:srgbClr val="DDDDDD"/>
            </a:solidFill>
            <a:prstDash val="solid"/>
          </a:ln>
        </p:spPr>
      </p:sp>
      <p:sp>
        <p:nvSpPr>
          <p:cNvPr id="11" name="Shape 8"/>
          <p:cNvSpPr/>
          <p:nvPr/>
        </p:nvSpPr>
        <p:spPr>
          <a:xfrm>
            <a:off x="365760" y="2130552"/>
            <a:ext cx="566928" cy="576072"/>
          </a:xfrm>
          <a:prstGeom prst="rect">
            <a:avLst/>
          </a:prstGeom>
          <a:solidFill>
            <a:srgbClr val="680001"/>
          </a:solidFill>
          <a:ln w="12700">
            <a:solidFill>
              <a:srgbClr val="680001"/>
            </a:solidFill>
            <a:prstDash val="solid"/>
          </a:ln>
        </p:spPr>
      </p:sp>
      <p:sp>
        <p:nvSpPr>
          <p:cNvPr id="12" name="Text 9"/>
          <p:cNvSpPr/>
          <p:nvPr/>
        </p:nvSpPr>
        <p:spPr>
          <a:xfrm>
            <a:off x="365760" y="2130552"/>
            <a:ext cx="566928" cy="5760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0"/>
          <p:cNvSpPr/>
          <p:nvPr/>
        </p:nvSpPr>
        <p:spPr>
          <a:xfrm>
            <a:off x="1024128" y="2194560"/>
            <a:ext cx="763524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Define the CIA Triad — Confidentiality, Integrity, and Availability — and explain what each means in a business context</a:t>
            </a:r>
            <a:endParaRPr lang="en-US" sz="1300" dirty="0"/>
          </a:p>
        </p:txBody>
      </p:sp>
      <p:sp>
        <p:nvSpPr>
          <p:cNvPr id="14" name="Shape 11"/>
          <p:cNvSpPr/>
          <p:nvPr/>
        </p:nvSpPr>
        <p:spPr>
          <a:xfrm>
            <a:off x="365760" y="2779776"/>
            <a:ext cx="8412480" cy="576072"/>
          </a:xfrm>
          <a:prstGeom prst="rect">
            <a:avLst/>
          </a:prstGeom>
          <a:solidFill>
            <a:srgbClr val="F5F5F5"/>
          </a:solidFill>
          <a:ln w="12700">
            <a:solidFill>
              <a:srgbClr val="DDDDDD"/>
            </a:solidFill>
            <a:prstDash val="solid"/>
          </a:ln>
        </p:spPr>
      </p:sp>
      <p:sp>
        <p:nvSpPr>
          <p:cNvPr id="15" name="Shape 12"/>
          <p:cNvSpPr/>
          <p:nvPr/>
        </p:nvSpPr>
        <p:spPr>
          <a:xfrm>
            <a:off x="365760" y="2779776"/>
            <a:ext cx="566928" cy="576072"/>
          </a:xfrm>
          <a:prstGeom prst="rect">
            <a:avLst/>
          </a:prstGeom>
          <a:solidFill>
            <a:srgbClr val="680001"/>
          </a:solidFill>
          <a:ln w="12700">
            <a:solidFill>
              <a:srgbClr val="680001"/>
            </a:solidFill>
            <a:prstDash val="solid"/>
          </a:ln>
        </p:spPr>
      </p:sp>
      <p:sp>
        <p:nvSpPr>
          <p:cNvPr id="16" name="Text 13"/>
          <p:cNvSpPr/>
          <p:nvPr/>
        </p:nvSpPr>
        <p:spPr>
          <a:xfrm>
            <a:off x="365760" y="2779776"/>
            <a:ext cx="566928" cy="5760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4"/>
          <p:cNvSpPr/>
          <p:nvPr/>
        </p:nvSpPr>
        <p:spPr>
          <a:xfrm>
            <a:off x="1024128" y="2843784"/>
            <a:ext cx="763524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Connect CIA Triad violations to real business consequences including financial loss, operational failure, and reputational harm</a:t>
            </a:r>
            <a:endParaRPr lang="en-US" sz="1300" dirty="0"/>
          </a:p>
        </p:txBody>
      </p:sp>
      <p:sp>
        <p:nvSpPr>
          <p:cNvPr id="18" name="Shape 15"/>
          <p:cNvSpPr/>
          <p:nvPr/>
        </p:nvSpPr>
        <p:spPr>
          <a:xfrm>
            <a:off x="365760" y="3429000"/>
            <a:ext cx="8412480" cy="576072"/>
          </a:xfrm>
          <a:prstGeom prst="rect">
            <a:avLst/>
          </a:prstGeom>
          <a:solidFill>
            <a:srgbClr val="FFFFFF"/>
          </a:solidFill>
          <a:ln w="12700">
            <a:solidFill>
              <a:srgbClr val="DDDDDD"/>
            </a:solidFill>
            <a:prstDash val="solid"/>
          </a:ln>
        </p:spPr>
      </p:sp>
      <p:sp>
        <p:nvSpPr>
          <p:cNvPr id="19" name="Shape 16"/>
          <p:cNvSpPr/>
          <p:nvPr/>
        </p:nvSpPr>
        <p:spPr>
          <a:xfrm>
            <a:off x="365760" y="3429000"/>
            <a:ext cx="566928" cy="576072"/>
          </a:xfrm>
          <a:prstGeom prst="rect">
            <a:avLst/>
          </a:prstGeom>
          <a:solidFill>
            <a:srgbClr val="680001"/>
          </a:solidFill>
          <a:ln w="12700">
            <a:solidFill>
              <a:srgbClr val="680001"/>
            </a:solidFill>
            <a:prstDash val="solid"/>
          </a:ln>
        </p:spPr>
      </p:sp>
      <p:sp>
        <p:nvSpPr>
          <p:cNvPr id="20" name="Text 17"/>
          <p:cNvSpPr/>
          <p:nvPr/>
        </p:nvSpPr>
        <p:spPr>
          <a:xfrm>
            <a:off x="365760" y="3429000"/>
            <a:ext cx="566928" cy="5760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1" name="Text 18"/>
          <p:cNvSpPr/>
          <p:nvPr/>
        </p:nvSpPr>
        <p:spPr>
          <a:xfrm>
            <a:off x="1024128" y="3493008"/>
            <a:ext cx="763524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Distinguish between technology use and technology risk, and explain why that distinction matters for management decisions</a:t>
            </a:r>
            <a:endParaRPr lang="en-US" sz="1300" dirty="0"/>
          </a:p>
        </p:txBody>
      </p:sp>
      <p:sp>
        <p:nvSpPr>
          <p:cNvPr id="22" name="Shape 19"/>
          <p:cNvSpPr/>
          <p:nvPr/>
        </p:nvSpPr>
        <p:spPr>
          <a:xfrm>
            <a:off x="365760" y="4078224"/>
            <a:ext cx="8412480" cy="576072"/>
          </a:xfrm>
          <a:prstGeom prst="rect">
            <a:avLst/>
          </a:prstGeom>
          <a:solidFill>
            <a:srgbClr val="F5F5F5"/>
          </a:solidFill>
          <a:ln w="12700">
            <a:solidFill>
              <a:srgbClr val="DDDDDD"/>
            </a:solidFill>
            <a:prstDash val="solid"/>
          </a:ln>
        </p:spPr>
      </p:sp>
      <p:sp>
        <p:nvSpPr>
          <p:cNvPr id="23" name="Shape 20"/>
          <p:cNvSpPr/>
          <p:nvPr/>
        </p:nvSpPr>
        <p:spPr>
          <a:xfrm>
            <a:off x="365760" y="4078224"/>
            <a:ext cx="566928" cy="576072"/>
          </a:xfrm>
          <a:prstGeom prst="rect">
            <a:avLst/>
          </a:prstGeom>
          <a:solidFill>
            <a:srgbClr val="680001"/>
          </a:solidFill>
          <a:ln w="12700">
            <a:solidFill>
              <a:srgbClr val="680001"/>
            </a:solidFill>
            <a:prstDash val="solid"/>
          </a:ln>
        </p:spPr>
      </p:sp>
      <p:sp>
        <p:nvSpPr>
          <p:cNvPr id="24" name="Text 21"/>
          <p:cNvSpPr/>
          <p:nvPr/>
        </p:nvSpPr>
        <p:spPr>
          <a:xfrm>
            <a:off x="365760" y="4078224"/>
            <a:ext cx="566928" cy="5760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5" name="Text 22"/>
          <p:cNvSpPr/>
          <p:nvPr/>
        </p:nvSpPr>
        <p:spPr>
          <a:xfrm>
            <a:off x="1024128" y="4142232"/>
            <a:ext cx="763524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Identify how disruptions to systems, devices, and data can ripple across operations, finances, and organizational reputation</a:t>
            </a:r>
            <a:endParaRPr lang="en-US" sz="1300" dirty="0"/>
          </a:p>
        </p:txBody>
      </p:sp>
      <p:sp>
        <p:nvSpPr>
          <p:cNvPr id="26" name="Shape 23"/>
          <p:cNvSpPr/>
          <p:nvPr/>
        </p:nvSpPr>
        <p:spPr>
          <a:xfrm>
            <a:off x="0" y="4800600"/>
            <a:ext cx="9144000" cy="342900"/>
          </a:xfrm>
          <a:prstGeom prst="rect">
            <a:avLst/>
          </a:prstGeom>
          <a:solidFill>
            <a:srgbClr val="680001"/>
          </a:solidFill>
          <a:ln w="12700">
            <a:solidFill>
              <a:srgbClr val="680001"/>
            </a:solidFill>
            <a:prstDash val="solid"/>
          </a:ln>
        </p:spPr>
      </p:sp>
      <p:sp>
        <p:nvSpPr>
          <p:cNvPr id="27" name="Text 24"/>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28" name="Text 25"/>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80001"/>
        </a:solidFill>
      </p:bgPr>
    </p:bg>
    <p:spTree>
      <p:nvGrpSpPr>
        <p:cNvPr id="1" name=""/>
        <p:cNvGrpSpPr/>
        <p:nvPr/>
      </p:nvGrpSpPr>
      <p:grpSpPr>
        <a:xfrm>
          <a:off x="0" y="0"/>
          <a:ext cx="0" cy="0"/>
          <a:chOff x="0" y="0"/>
          <a:chExt cx="0" cy="0"/>
        </a:xfrm>
      </p:grpSpPr>
      <p:pic>
        <p:nvPicPr>
          <p:cNvPr id="2" name="Image 0" descr="/home/claude/unoh_logo.png">    </p:cNvPr>
          <p:cNvPicPr>
            <a:picLocks noChangeAspect="1"/>
          </p:cNvPicPr>
          <p:nvPr/>
        </p:nvPicPr>
        <p:blipFill>
          <a:blip r:embed="rId1"/>
          <a:srcRect l="0" r="0" t="0" b="0"/>
          <a:stretch/>
        </p:blipFill>
        <p:spPr>
          <a:xfrm>
            <a:off x="6858000" y="4389120"/>
            <a:ext cx="2011680" cy="640080"/>
          </a:xfrm>
          <a:prstGeom prst="rect">
            <a:avLst/>
          </a:prstGeom>
        </p:spPr>
      </p:pic>
      <p:sp>
        <p:nvSpPr>
          <p:cNvPr id="3" name="Text 0"/>
          <p:cNvSpPr/>
          <p:nvPr/>
        </p:nvSpPr>
        <p:spPr>
          <a:xfrm>
            <a:off x="548640" y="1188720"/>
            <a:ext cx="8229600" cy="411480"/>
          </a:xfrm>
          <a:prstGeom prst="rect">
            <a:avLst/>
          </a:prstGeom>
          <a:noFill/>
          <a:ln/>
        </p:spPr>
        <p:txBody>
          <a:bodyPr wrap="square" rtlCol="0" anchor="ctr"/>
          <a:lstStyle/>
          <a:p>
            <a:pPr indent="0" marL="0">
              <a:buNone/>
            </a:pPr>
            <a:r>
              <a:rPr lang="en-US" sz="1500" dirty="0">
                <a:solidFill>
                  <a:srgbClr val="F5C0C0"/>
                </a:solidFill>
                <a:latin typeface="Calibri" pitchFamily="34" charset="0"/>
                <a:ea typeface="Calibri" pitchFamily="34" charset="-122"/>
                <a:cs typeface="Calibri" pitchFamily="34" charset="-120"/>
              </a:rPr>
              <a:t>Module 1</a:t>
            </a:r>
            <a:endParaRPr lang="en-US" sz="1500" dirty="0"/>
          </a:p>
        </p:txBody>
      </p:sp>
      <p:sp>
        <p:nvSpPr>
          <p:cNvPr id="4" name="Text 1"/>
          <p:cNvSpPr/>
          <p:nvPr/>
        </p:nvSpPr>
        <p:spPr>
          <a:xfrm>
            <a:off x="548640" y="1627632"/>
            <a:ext cx="8229600" cy="13716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Business Dependence on IT</a:t>
            </a:r>
            <a:endParaRPr lang="en-US" sz="4400" dirty="0"/>
          </a:p>
        </p:txBody>
      </p:sp>
      <p:sp>
        <p:nvSpPr>
          <p:cNvPr id="5" name="Text 2"/>
          <p:cNvSpPr/>
          <p:nvPr/>
        </p:nvSpPr>
        <p:spPr>
          <a:xfrm>
            <a:off x="548640" y="3063240"/>
            <a:ext cx="7772400" cy="594360"/>
          </a:xfrm>
          <a:prstGeom prst="rect">
            <a:avLst/>
          </a:prstGeom>
          <a:noFill/>
          <a:ln/>
        </p:spPr>
        <p:txBody>
          <a:bodyPr wrap="square" rtlCol="0" anchor="ctr"/>
          <a:lstStyle/>
          <a:p>
            <a:pPr indent="0" marL="0">
              <a:buNone/>
            </a:pPr>
            <a:r>
              <a:rPr lang="en-US" sz="1600" i="1" dirty="0">
                <a:solidFill>
                  <a:srgbClr val="F5C0C0"/>
                </a:solidFill>
                <a:latin typeface="Calibri" pitchFamily="34" charset="0"/>
                <a:ea typeface="Calibri" pitchFamily="34" charset="-122"/>
                <a:cs typeface="Calibri" pitchFamily="34" charset="-120"/>
              </a:rPr>
              <a:t>Why every modern organization runs on technology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How Modern Organizations Depend on IT</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Text 2"/>
          <p:cNvSpPr/>
          <p:nvPr/>
        </p:nvSpPr>
        <p:spPr>
          <a:xfrm>
            <a:off x="411480" y="1078992"/>
            <a:ext cx="8321040" cy="566928"/>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It is nearly impossible for a modern organization to function without information technology. Every core business process — from hiring to billing to customer service — relies on some combination of systems, digital processes, and data.</a:t>
            </a:r>
            <a:endParaRPr lang="en-US" sz="1250" dirty="0"/>
          </a:p>
        </p:txBody>
      </p:sp>
      <p:sp>
        <p:nvSpPr>
          <p:cNvPr id="6" name="Shape 3"/>
          <p:cNvSpPr/>
          <p:nvPr/>
        </p:nvSpPr>
        <p:spPr>
          <a:xfrm>
            <a:off x="320040" y="1755648"/>
            <a:ext cx="2743200" cy="283464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7" name="Shape 4"/>
          <p:cNvSpPr/>
          <p:nvPr/>
        </p:nvSpPr>
        <p:spPr>
          <a:xfrm>
            <a:off x="320040" y="1755648"/>
            <a:ext cx="2743200" cy="457200"/>
          </a:xfrm>
          <a:prstGeom prst="rect">
            <a:avLst/>
          </a:prstGeom>
          <a:solidFill>
            <a:srgbClr val="680001"/>
          </a:solidFill>
          <a:ln w="12700">
            <a:solidFill>
              <a:srgbClr val="680001"/>
            </a:solidFill>
            <a:prstDash val="solid"/>
          </a:ln>
        </p:spPr>
      </p:sp>
      <p:sp>
        <p:nvSpPr>
          <p:cNvPr id="8" name="Text 5"/>
          <p:cNvSpPr/>
          <p:nvPr/>
        </p:nvSpPr>
        <p:spPr>
          <a:xfrm>
            <a:off x="411480" y="1755648"/>
            <a:ext cx="25603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Information Systems</a:t>
            </a:r>
            <a:endParaRPr lang="en-US" sz="1400" dirty="0"/>
          </a:p>
        </p:txBody>
      </p:sp>
      <p:sp>
        <p:nvSpPr>
          <p:cNvPr id="9" name="Text 6"/>
          <p:cNvSpPr/>
          <p:nvPr/>
        </p:nvSpPr>
        <p:spPr>
          <a:xfrm>
            <a:off x="429768" y="226771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Enterprise Resource Planning (ERP) systems manage inventory, payroll, finance, and HR in a single platform.</a:t>
            </a:r>
            <a:endParaRPr lang="en-US" sz="1050" dirty="0"/>
          </a:p>
        </p:txBody>
      </p:sp>
      <p:sp>
        <p:nvSpPr>
          <p:cNvPr id="10" name="Text 7"/>
          <p:cNvSpPr/>
          <p:nvPr/>
        </p:nvSpPr>
        <p:spPr>
          <a:xfrm>
            <a:off x="429768" y="281635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Customer Relationship Management (CRM) systems store every customer interaction, purchase, and communication.</a:t>
            </a:r>
            <a:endParaRPr lang="en-US" sz="1050" dirty="0"/>
          </a:p>
        </p:txBody>
      </p:sp>
      <p:sp>
        <p:nvSpPr>
          <p:cNvPr id="11" name="Text 8"/>
          <p:cNvSpPr/>
          <p:nvPr/>
        </p:nvSpPr>
        <p:spPr>
          <a:xfrm>
            <a:off x="429768" y="336499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Point-of-sale (POS) systems process every transaction in retail, food service, and hospitality.</a:t>
            </a:r>
            <a:endParaRPr lang="en-US" sz="1050" dirty="0"/>
          </a:p>
        </p:txBody>
      </p:sp>
      <p:sp>
        <p:nvSpPr>
          <p:cNvPr id="12" name="Text 9"/>
          <p:cNvSpPr/>
          <p:nvPr/>
        </p:nvSpPr>
        <p:spPr>
          <a:xfrm>
            <a:off x="429768" y="391363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Learning Management Systems (LMS) — like Canvas — deliver course content, track grades, and enable student communication.</a:t>
            </a:r>
            <a:endParaRPr lang="en-US" sz="1050" dirty="0"/>
          </a:p>
        </p:txBody>
      </p:sp>
      <p:sp>
        <p:nvSpPr>
          <p:cNvPr id="13" name="Shape 10"/>
          <p:cNvSpPr/>
          <p:nvPr/>
        </p:nvSpPr>
        <p:spPr>
          <a:xfrm>
            <a:off x="3246120" y="1755648"/>
            <a:ext cx="2743200" cy="283464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4" name="Shape 11"/>
          <p:cNvSpPr/>
          <p:nvPr/>
        </p:nvSpPr>
        <p:spPr>
          <a:xfrm>
            <a:off x="3246120" y="1755648"/>
            <a:ext cx="2743200" cy="457200"/>
          </a:xfrm>
          <a:prstGeom prst="rect">
            <a:avLst/>
          </a:prstGeom>
          <a:solidFill>
            <a:srgbClr val="1A4A8A"/>
          </a:solidFill>
          <a:ln w="12700">
            <a:solidFill>
              <a:srgbClr val="1A4A8A"/>
            </a:solidFill>
            <a:prstDash val="solid"/>
          </a:ln>
        </p:spPr>
      </p:sp>
      <p:sp>
        <p:nvSpPr>
          <p:cNvPr id="15" name="Text 12"/>
          <p:cNvSpPr/>
          <p:nvPr/>
        </p:nvSpPr>
        <p:spPr>
          <a:xfrm>
            <a:off x="3337560" y="1755648"/>
            <a:ext cx="25603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Digital Processes</a:t>
            </a:r>
            <a:endParaRPr lang="en-US" sz="1400" dirty="0"/>
          </a:p>
        </p:txBody>
      </p:sp>
      <p:sp>
        <p:nvSpPr>
          <p:cNvPr id="16" name="Text 13"/>
          <p:cNvSpPr/>
          <p:nvPr/>
        </p:nvSpPr>
        <p:spPr>
          <a:xfrm>
            <a:off x="3355848" y="226771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Automated payroll processing calculates and distributes employee wages without manual calculation.</a:t>
            </a:r>
            <a:endParaRPr lang="en-US" sz="1050" dirty="0"/>
          </a:p>
        </p:txBody>
      </p:sp>
      <p:sp>
        <p:nvSpPr>
          <p:cNvPr id="17" name="Text 14"/>
          <p:cNvSpPr/>
          <p:nvPr/>
        </p:nvSpPr>
        <p:spPr>
          <a:xfrm>
            <a:off x="3355848" y="281635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Supply chain tracking follows raw materials from supplier to warehouse to customer in real time.</a:t>
            </a:r>
            <a:endParaRPr lang="en-US" sz="1050" dirty="0"/>
          </a:p>
        </p:txBody>
      </p:sp>
      <p:sp>
        <p:nvSpPr>
          <p:cNvPr id="18" name="Text 15"/>
          <p:cNvSpPr/>
          <p:nvPr/>
        </p:nvSpPr>
        <p:spPr>
          <a:xfrm>
            <a:off x="3355848" y="336499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Email and collaboration platforms enable internal communication, scheduling, and document sharing.</a:t>
            </a:r>
            <a:endParaRPr lang="en-US" sz="1050" dirty="0"/>
          </a:p>
        </p:txBody>
      </p:sp>
      <p:sp>
        <p:nvSpPr>
          <p:cNvPr id="19" name="Text 16"/>
          <p:cNvSpPr/>
          <p:nvPr/>
        </p:nvSpPr>
        <p:spPr>
          <a:xfrm>
            <a:off x="3355848" y="391363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Electronic health records (EHR) allow care teams to access patient information instantly across departments.</a:t>
            </a:r>
            <a:endParaRPr lang="en-US" sz="1050" dirty="0"/>
          </a:p>
        </p:txBody>
      </p:sp>
      <p:sp>
        <p:nvSpPr>
          <p:cNvPr id="20" name="Shape 17"/>
          <p:cNvSpPr/>
          <p:nvPr/>
        </p:nvSpPr>
        <p:spPr>
          <a:xfrm>
            <a:off x="6172200" y="1755648"/>
            <a:ext cx="2743200" cy="283464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21" name="Shape 18"/>
          <p:cNvSpPr/>
          <p:nvPr/>
        </p:nvSpPr>
        <p:spPr>
          <a:xfrm>
            <a:off x="6172200" y="1755648"/>
            <a:ext cx="2743200" cy="457200"/>
          </a:xfrm>
          <a:prstGeom prst="rect">
            <a:avLst/>
          </a:prstGeom>
          <a:solidFill>
            <a:srgbClr val="1A6A1A"/>
          </a:solidFill>
          <a:ln w="12700">
            <a:solidFill>
              <a:srgbClr val="1A6A1A"/>
            </a:solidFill>
            <a:prstDash val="solid"/>
          </a:ln>
        </p:spPr>
      </p:sp>
      <p:sp>
        <p:nvSpPr>
          <p:cNvPr id="22" name="Text 19"/>
          <p:cNvSpPr/>
          <p:nvPr/>
        </p:nvSpPr>
        <p:spPr>
          <a:xfrm>
            <a:off x="6263640" y="1755648"/>
            <a:ext cx="25603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a:t>
            </a:r>
            <a:endParaRPr lang="en-US" sz="1400" dirty="0"/>
          </a:p>
        </p:txBody>
      </p:sp>
      <p:sp>
        <p:nvSpPr>
          <p:cNvPr id="23" name="Text 20"/>
          <p:cNvSpPr/>
          <p:nvPr/>
        </p:nvSpPr>
        <p:spPr>
          <a:xfrm>
            <a:off x="6281928" y="226771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Customer data — names, contact info, purchase history — drives marketing, sales, and service decisions.</a:t>
            </a:r>
            <a:endParaRPr lang="en-US" sz="1050" dirty="0"/>
          </a:p>
        </p:txBody>
      </p:sp>
      <p:sp>
        <p:nvSpPr>
          <p:cNvPr id="24" name="Text 21"/>
          <p:cNvSpPr/>
          <p:nvPr/>
        </p:nvSpPr>
        <p:spPr>
          <a:xfrm>
            <a:off x="6281928" y="281635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Financial data — transactions, invoices, budgets — enables reporting, compliance, and strategic planning.</a:t>
            </a:r>
            <a:endParaRPr lang="en-US" sz="1050" dirty="0"/>
          </a:p>
        </p:txBody>
      </p:sp>
      <p:sp>
        <p:nvSpPr>
          <p:cNvPr id="25" name="Text 22"/>
          <p:cNvSpPr/>
          <p:nvPr/>
        </p:nvSpPr>
        <p:spPr>
          <a:xfrm>
            <a:off x="6281928" y="336499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Operational data — production rates, inventory levels, logistics — supports day-to-day management decisions.</a:t>
            </a:r>
            <a:endParaRPr lang="en-US" sz="1050" dirty="0"/>
          </a:p>
        </p:txBody>
      </p:sp>
      <p:sp>
        <p:nvSpPr>
          <p:cNvPr id="26" name="Text 23"/>
          <p:cNvSpPr/>
          <p:nvPr/>
        </p:nvSpPr>
        <p:spPr>
          <a:xfrm>
            <a:off x="6281928" y="3913632"/>
            <a:ext cx="2523744" cy="512064"/>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  Employee data — performance records, benefits, tax info — is required for legal compliance and HR management.</a:t>
            </a:r>
            <a:endParaRPr lang="en-US" sz="1050" dirty="0"/>
          </a:p>
        </p:txBody>
      </p:sp>
      <p:sp>
        <p:nvSpPr>
          <p:cNvPr id="27" name="Shape 24"/>
          <p:cNvSpPr/>
          <p:nvPr/>
        </p:nvSpPr>
        <p:spPr>
          <a:xfrm>
            <a:off x="0" y="4800600"/>
            <a:ext cx="9144000" cy="342900"/>
          </a:xfrm>
          <a:prstGeom prst="rect">
            <a:avLst/>
          </a:prstGeom>
          <a:solidFill>
            <a:srgbClr val="680001"/>
          </a:solidFill>
          <a:ln w="12700">
            <a:solidFill>
              <a:srgbClr val="680001"/>
            </a:solidFill>
            <a:prstDash val="solid"/>
          </a:ln>
        </p:spPr>
      </p:sp>
      <p:sp>
        <p:nvSpPr>
          <p:cNvPr id="28" name="Text 25"/>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29" name="Text 26"/>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Happens When IT Fails?</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Text 2"/>
          <p:cNvSpPr/>
          <p:nvPr/>
        </p:nvSpPr>
        <p:spPr>
          <a:xfrm>
            <a:off x="411480" y="1078992"/>
            <a:ext cx="8321040" cy="502920"/>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If an organization depends entirely on technology to operate, then any disruption to that technology becomes a business problem — not just a technical one. Here are real examples of what that looks like:</a:t>
            </a:r>
            <a:endParaRPr lang="en-US" sz="1250" dirty="0"/>
          </a:p>
        </p:txBody>
      </p:sp>
      <p:sp>
        <p:nvSpPr>
          <p:cNvPr id="6" name="Shape 3"/>
          <p:cNvSpPr/>
          <p:nvPr/>
        </p:nvSpPr>
        <p:spPr>
          <a:xfrm>
            <a:off x="365760" y="1691640"/>
            <a:ext cx="8412480" cy="932688"/>
          </a:xfrm>
          <a:prstGeom prst="rect">
            <a:avLst/>
          </a:prstGeom>
          <a:solidFill>
            <a:srgbClr val="F5F5F5"/>
          </a:solidFill>
          <a:ln w="12700">
            <a:solidFill>
              <a:srgbClr val="DDDDDD"/>
            </a:solidFill>
            <a:prstDash val="solid"/>
          </a:ln>
        </p:spPr>
      </p:sp>
      <p:sp>
        <p:nvSpPr>
          <p:cNvPr id="7" name="Shape 4"/>
          <p:cNvSpPr/>
          <p:nvPr/>
        </p:nvSpPr>
        <p:spPr>
          <a:xfrm>
            <a:off x="365760" y="1691640"/>
            <a:ext cx="54864" cy="932688"/>
          </a:xfrm>
          <a:prstGeom prst="rect">
            <a:avLst/>
          </a:prstGeom>
          <a:solidFill>
            <a:srgbClr val="680001"/>
          </a:solidFill>
          <a:ln w="12700">
            <a:solidFill>
              <a:srgbClr val="680001"/>
            </a:solidFill>
            <a:prstDash val="solid"/>
          </a:ln>
        </p:spPr>
      </p:sp>
      <p:sp>
        <p:nvSpPr>
          <p:cNvPr id="8" name="Text 5"/>
          <p:cNvSpPr/>
          <p:nvPr/>
        </p:nvSpPr>
        <p:spPr>
          <a:xfrm>
            <a:off x="530352" y="1737360"/>
            <a:ext cx="8138160" cy="274320"/>
          </a:xfrm>
          <a:prstGeom prst="rect">
            <a:avLst/>
          </a:prstGeom>
          <a:noFill/>
          <a:ln/>
        </p:spPr>
        <p:txBody>
          <a:bodyPr wrap="square" rtlCol="0" anchor="ctr"/>
          <a:lstStyle/>
          <a:p>
            <a:pPr indent="0" marL="0">
              <a:buNone/>
            </a:pPr>
            <a:r>
              <a:rPr lang="en-US" sz="1250" b="1" dirty="0">
                <a:solidFill>
                  <a:srgbClr val="680001"/>
                </a:solidFill>
                <a:latin typeface="Calibri" pitchFamily="34" charset="0"/>
                <a:ea typeface="Calibri" pitchFamily="34" charset="-122"/>
                <a:cs typeface="Calibri" pitchFamily="34" charset="-120"/>
              </a:rPr>
              <a:t>Healthcare System  ·  Ransomware Attack (Common, 2020–present)</a:t>
            </a:r>
            <a:endParaRPr lang="en-US" sz="1250" dirty="0"/>
          </a:p>
        </p:txBody>
      </p:sp>
      <p:sp>
        <p:nvSpPr>
          <p:cNvPr id="9" name="Text 6"/>
          <p:cNvSpPr/>
          <p:nvPr/>
        </p:nvSpPr>
        <p:spPr>
          <a:xfrm>
            <a:off x="530352" y="2002536"/>
            <a:ext cx="8092440" cy="22860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Systems: </a:t>
            </a:r>
            <a:pPr indent="0" marL="0">
              <a:buNone/>
            </a:pPr>
            <a:r>
              <a:rPr lang="en-US" sz="1050" dirty="0">
                <a:solidFill>
                  <a:srgbClr val="333333"/>
                </a:solidFill>
                <a:latin typeface="Calibri" pitchFamily="34" charset="0"/>
                <a:ea typeface="Calibri" pitchFamily="34" charset="-122"/>
                <a:cs typeface="Calibri" pitchFamily="34" charset="-120"/>
              </a:rPr>
              <a:t>Electronic health records locked   |   </a:t>
            </a:r>
            <a:pPr indent="0" marL="0">
              <a:buNone/>
            </a:pPr>
            <a:r>
              <a:rPr lang="en-US" sz="1050" b="1" dirty="0">
                <a:solidFill>
                  <a:srgbClr val="333333"/>
                </a:solidFill>
                <a:latin typeface="Calibri" pitchFamily="34" charset="0"/>
                <a:ea typeface="Calibri" pitchFamily="34" charset="-122"/>
                <a:cs typeface="Calibri" pitchFamily="34" charset="-120"/>
              </a:rPr>
              <a:t>Processes: </a:t>
            </a:r>
            <a:pPr indent="0" marL="0">
              <a:buNone/>
            </a:pPr>
            <a:r>
              <a:rPr lang="en-US" sz="1050" dirty="0">
                <a:solidFill>
                  <a:srgbClr val="333333"/>
                </a:solidFill>
                <a:latin typeface="Calibri" pitchFamily="34" charset="0"/>
                <a:ea typeface="Calibri" pitchFamily="34" charset="-122"/>
                <a:cs typeface="Calibri" pitchFamily="34" charset="-120"/>
              </a:rPr>
              <a:t>Staff revert to paper charts   |   </a:t>
            </a:r>
            <a:pPr indent="0" marL="0">
              <a:buNone/>
            </a:pPr>
            <a:r>
              <a:rPr lang="en-US" sz="1050" b="1" dirty="0">
                <a:solidFill>
                  <a:srgbClr val="333333"/>
                </a:solidFill>
                <a:latin typeface="Calibri" pitchFamily="34" charset="0"/>
                <a:ea typeface="Calibri" pitchFamily="34" charset="-122"/>
                <a:cs typeface="Calibri" pitchFamily="34" charset="-120"/>
              </a:rPr>
              <a:t>Data: </a:t>
            </a:r>
            <a:pPr indent="0" marL="0">
              <a:buNone/>
            </a:pPr>
            <a:r>
              <a:rPr lang="en-US" sz="1050" dirty="0">
                <a:solidFill>
                  <a:srgbClr val="333333"/>
                </a:solidFill>
                <a:latin typeface="Calibri" pitchFamily="34" charset="0"/>
                <a:ea typeface="Calibri" pitchFamily="34" charset="-122"/>
                <a:cs typeface="Calibri" pitchFamily="34" charset="-120"/>
              </a:rPr>
              <a:t>Patient histories inaccessible</a:t>
            </a:r>
            <a:endParaRPr lang="en-US" sz="1050" dirty="0"/>
          </a:p>
        </p:txBody>
      </p:sp>
      <p:sp>
        <p:nvSpPr>
          <p:cNvPr id="10" name="Text 7"/>
          <p:cNvSpPr/>
          <p:nvPr/>
        </p:nvSpPr>
        <p:spPr>
          <a:xfrm>
            <a:off x="530352" y="2258568"/>
            <a:ext cx="8092440" cy="292608"/>
          </a:xfrm>
          <a:prstGeom prst="rect">
            <a:avLst/>
          </a:prstGeom>
          <a:noFill/>
          <a:ln/>
        </p:spPr>
        <p:txBody>
          <a:bodyPr wrap="square" rtlCol="0" anchor="ctr"/>
          <a:lstStyle/>
          <a:p>
            <a:pPr indent="0" marL="0">
              <a:buNone/>
            </a:pPr>
            <a:r>
              <a:rPr lang="en-US" sz="1050" b="1" dirty="0">
                <a:solidFill>
                  <a:srgbClr val="B71C1C"/>
                </a:solidFill>
                <a:latin typeface="Calibri" pitchFamily="34" charset="0"/>
                <a:ea typeface="Calibri" pitchFamily="34" charset="-122"/>
                <a:cs typeface="Calibri" pitchFamily="34" charset="-120"/>
              </a:rPr>
              <a:t>Operations: </a:t>
            </a:r>
            <a:pPr indent="0" marL="0">
              <a:buNone/>
            </a:pPr>
            <a:r>
              <a:rPr lang="en-US" sz="1050" dirty="0">
                <a:solidFill>
                  <a:srgbClr val="333333"/>
                </a:solidFill>
                <a:latin typeface="Calibri" pitchFamily="34" charset="0"/>
                <a:ea typeface="Calibri" pitchFamily="34" charset="-122"/>
                <a:cs typeface="Calibri" pitchFamily="34" charset="-120"/>
              </a:rPr>
              <a:t>Surgeries delayed or cancelled   </a:t>
            </a:r>
            <a:pPr indent="0" marL="0">
              <a:buNone/>
            </a:pPr>
            <a:r>
              <a:rPr lang="en-US" sz="1050" b="1" dirty="0">
                <a:solidFill>
                  <a:srgbClr val="B71C1C"/>
                </a:solidFill>
                <a:latin typeface="Calibri" pitchFamily="34" charset="0"/>
                <a:ea typeface="Calibri" pitchFamily="34" charset="-122"/>
                <a:cs typeface="Calibri" pitchFamily="34" charset="-120"/>
              </a:rPr>
              <a:t>Financial: </a:t>
            </a:r>
            <a:pPr indent="0" marL="0">
              <a:buNone/>
            </a:pPr>
            <a:r>
              <a:rPr lang="en-US" sz="1050" dirty="0">
                <a:solidFill>
                  <a:srgbClr val="333333"/>
                </a:solidFill>
                <a:latin typeface="Calibri" pitchFamily="34" charset="0"/>
                <a:ea typeface="Calibri" pitchFamily="34" charset="-122"/>
                <a:cs typeface="Calibri" pitchFamily="34" charset="-120"/>
              </a:rPr>
              <a:t>$1M+ per day in recovery costs   </a:t>
            </a:r>
            <a:pPr indent="0" marL="0">
              <a:buNone/>
            </a:pPr>
            <a:r>
              <a:rPr lang="en-US" sz="1050" b="1" dirty="0">
                <a:solidFill>
                  <a:srgbClr val="B71C1C"/>
                </a:solidFill>
                <a:latin typeface="Calibri" pitchFamily="34" charset="0"/>
                <a:ea typeface="Calibri" pitchFamily="34" charset="-122"/>
                <a:cs typeface="Calibri" pitchFamily="34" charset="-120"/>
              </a:rPr>
              <a:t>Reputation: </a:t>
            </a:r>
            <a:pPr indent="0" marL="0">
              <a:buNone/>
            </a:pPr>
            <a:r>
              <a:rPr lang="en-US" sz="1050" dirty="0">
                <a:solidFill>
                  <a:srgbClr val="333333"/>
                </a:solidFill>
                <a:latin typeface="Calibri" pitchFamily="34" charset="0"/>
                <a:ea typeface="Calibri" pitchFamily="34" charset="-122"/>
                <a:cs typeface="Calibri" pitchFamily="34" charset="-120"/>
              </a:rPr>
              <a:t>Patients transferred to other facilities; public trust erodes</a:t>
            </a:r>
            <a:endParaRPr lang="en-US" sz="1050" dirty="0"/>
          </a:p>
        </p:txBody>
      </p:sp>
      <p:sp>
        <p:nvSpPr>
          <p:cNvPr id="11" name="Shape 8"/>
          <p:cNvSpPr/>
          <p:nvPr/>
        </p:nvSpPr>
        <p:spPr>
          <a:xfrm>
            <a:off x="365760" y="2715768"/>
            <a:ext cx="8412480" cy="932688"/>
          </a:xfrm>
          <a:prstGeom prst="rect">
            <a:avLst/>
          </a:prstGeom>
          <a:solidFill>
            <a:srgbClr val="FFFFFF"/>
          </a:solidFill>
          <a:ln w="12700">
            <a:solidFill>
              <a:srgbClr val="DDDDDD"/>
            </a:solidFill>
            <a:prstDash val="solid"/>
          </a:ln>
        </p:spPr>
      </p:sp>
      <p:sp>
        <p:nvSpPr>
          <p:cNvPr id="12" name="Shape 9"/>
          <p:cNvSpPr/>
          <p:nvPr/>
        </p:nvSpPr>
        <p:spPr>
          <a:xfrm>
            <a:off x="365760" y="2715768"/>
            <a:ext cx="54864" cy="932688"/>
          </a:xfrm>
          <a:prstGeom prst="rect">
            <a:avLst/>
          </a:prstGeom>
          <a:solidFill>
            <a:srgbClr val="680001"/>
          </a:solidFill>
          <a:ln w="12700">
            <a:solidFill>
              <a:srgbClr val="680001"/>
            </a:solidFill>
            <a:prstDash val="solid"/>
          </a:ln>
        </p:spPr>
      </p:sp>
      <p:sp>
        <p:nvSpPr>
          <p:cNvPr id="13" name="Text 10"/>
          <p:cNvSpPr/>
          <p:nvPr/>
        </p:nvSpPr>
        <p:spPr>
          <a:xfrm>
            <a:off x="530352" y="2761488"/>
            <a:ext cx="8138160" cy="274320"/>
          </a:xfrm>
          <a:prstGeom prst="rect">
            <a:avLst/>
          </a:prstGeom>
          <a:noFill/>
          <a:ln/>
        </p:spPr>
        <p:txBody>
          <a:bodyPr wrap="square" rtlCol="0" anchor="ctr"/>
          <a:lstStyle/>
          <a:p>
            <a:pPr indent="0" marL="0">
              <a:buNone/>
            </a:pPr>
            <a:r>
              <a:rPr lang="en-US" sz="1250" b="1" dirty="0">
                <a:solidFill>
                  <a:srgbClr val="680001"/>
                </a:solidFill>
                <a:latin typeface="Calibri" pitchFamily="34" charset="0"/>
                <a:ea typeface="Calibri" pitchFamily="34" charset="-122"/>
                <a:cs typeface="Calibri" pitchFamily="34" charset="-120"/>
              </a:rPr>
              <a:t>Retail Chain  ·  POS System Outage (e.g., Target 2013 breach)</a:t>
            </a:r>
            <a:endParaRPr lang="en-US" sz="1250" dirty="0"/>
          </a:p>
        </p:txBody>
      </p:sp>
      <p:sp>
        <p:nvSpPr>
          <p:cNvPr id="14" name="Text 11"/>
          <p:cNvSpPr/>
          <p:nvPr/>
        </p:nvSpPr>
        <p:spPr>
          <a:xfrm>
            <a:off x="530352" y="3026664"/>
            <a:ext cx="8092440" cy="22860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Systems: </a:t>
            </a:r>
            <a:pPr indent="0" marL="0">
              <a:buNone/>
            </a:pPr>
            <a:r>
              <a:rPr lang="en-US" sz="1050" dirty="0">
                <a:solidFill>
                  <a:srgbClr val="333333"/>
                </a:solidFill>
                <a:latin typeface="Calibri" pitchFamily="34" charset="0"/>
                <a:ea typeface="Calibri" pitchFamily="34" charset="-122"/>
                <a:cs typeface="Calibri" pitchFamily="34" charset="-120"/>
              </a:rPr>
              <a:t>Payment terminals fail or are compromised   |   </a:t>
            </a:r>
            <a:pPr indent="0" marL="0">
              <a:buNone/>
            </a:pPr>
            <a:r>
              <a:rPr lang="en-US" sz="1050" b="1" dirty="0">
                <a:solidFill>
                  <a:srgbClr val="333333"/>
                </a:solidFill>
                <a:latin typeface="Calibri" pitchFamily="34" charset="0"/>
                <a:ea typeface="Calibri" pitchFamily="34" charset="-122"/>
                <a:cs typeface="Calibri" pitchFamily="34" charset="-120"/>
              </a:rPr>
              <a:t>Processes: </a:t>
            </a:r>
            <a:pPr indent="0" marL="0">
              <a:buNone/>
            </a:pPr>
            <a:r>
              <a:rPr lang="en-US" sz="1050" dirty="0">
                <a:solidFill>
                  <a:srgbClr val="333333"/>
                </a:solidFill>
                <a:latin typeface="Calibri" pitchFamily="34" charset="0"/>
                <a:ea typeface="Calibri" pitchFamily="34" charset="-122"/>
                <a:cs typeface="Calibri" pitchFamily="34" charset="-120"/>
              </a:rPr>
              <a:t>Sales transactions cannot be processed   |   </a:t>
            </a:r>
            <a:pPr indent="0" marL="0">
              <a:buNone/>
            </a:pPr>
            <a:r>
              <a:rPr lang="en-US" sz="1050" b="1" dirty="0">
                <a:solidFill>
                  <a:srgbClr val="333333"/>
                </a:solidFill>
                <a:latin typeface="Calibri" pitchFamily="34" charset="0"/>
                <a:ea typeface="Calibri" pitchFamily="34" charset="-122"/>
                <a:cs typeface="Calibri" pitchFamily="34" charset="-120"/>
              </a:rPr>
              <a:t>Data: </a:t>
            </a:r>
            <a:pPr indent="0" marL="0">
              <a:buNone/>
            </a:pPr>
            <a:r>
              <a:rPr lang="en-US" sz="1050" dirty="0">
                <a:solidFill>
                  <a:srgbClr val="333333"/>
                </a:solidFill>
                <a:latin typeface="Calibri" pitchFamily="34" charset="0"/>
                <a:ea typeface="Calibri" pitchFamily="34" charset="-122"/>
                <a:cs typeface="Calibri" pitchFamily="34" charset="-120"/>
              </a:rPr>
              <a:t>40M+ customer card numbers stolen</a:t>
            </a:r>
            <a:endParaRPr lang="en-US" sz="1050" dirty="0"/>
          </a:p>
        </p:txBody>
      </p:sp>
      <p:sp>
        <p:nvSpPr>
          <p:cNvPr id="15" name="Text 12"/>
          <p:cNvSpPr/>
          <p:nvPr/>
        </p:nvSpPr>
        <p:spPr>
          <a:xfrm>
            <a:off x="530352" y="3282696"/>
            <a:ext cx="8092440" cy="292608"/>
          </a:xfrm>
          <a:prstGeom prst="rect">
            <a:avLst/>
          </a:prstGeom>
          <a:noFill/>
          <a:ln/>
        </p:spPr>
        <p:txBody>
          <a:bodyPr wrap="square" rtlCol="0" anchor="ctr"/>
          <a:lstStyle/>
          <a:p>
            <a:pPr indent="0" marL="0">
              <a:buNone/>
            </a:pPr>
            <a:r>
              <a:rPr lang="en-US" sz="1050" b="1" dirty="0">
                <a:solidFill>
                  <a:srgbClr val="B71C1C"/>
                </a:solidFill>
                <a:latin typeface="Calibri" pitchFamily="34" charset="0"/>
                <a:ea typeface="Calibri" pitchFamily="34" charset="-122"/>
                <a:cs typeface="Calibri" pitchFamily="34" charset="-120"/>
              </a:rPr>
              <a:t>Operations: </a:t>
            </a:r>
            <a:pPr indent="0" marL="0">
              <a:buNone/>
            </a:pPr>
            <a:r>
              <a:rPr lang="en-US" sz="1050" dirty="0">
                <a:solidFill>
                  <a:srgbClr val="333333"/>
                </a:solidFill>
                <a:latin typeface="Calibri" pitchFamily="34" charset="0"/>
                <a:ea typeface="Calibri" pitchFamily="34" charset="-122"/>
                <a:cs typeface="Calibri" pitchFamily="34" charset="-120"/>
              </a:rPr>
              <a:t>Stores cannot sell products   </a:t>
            </a:r>
            <a:pPr indent="0" marL="0">
              <a:buNone/>
            </a:pPr>
            <a:r>
              <a:rPr lang="en-US" sz="1050" b="1" dirty="0">
                <a:solidFill>
                  <a:srgbClr val="B71C1C"/>
                </a:solidFill>
                <a:latin typeface="Calibri" pitchFamily="34" charset="0"/>
                <a:ea typeface="Calibri" pitchFamily="34" charset="-122"/>
                <a:cs typeface="Calibri" pitchFamily="34" charset="-120"/>
              </a:rPr>
              <a:t>Financial: </a:t>
            </a:r>
            <a:pPr indent="0" marL="0">
              <a:buNone/>
            </a:pPr>
            <a:r>
              <a:rPr lang="en-US" sz="1050" dirty="0">
                <a:solidFill>
                  <a:srgbClr val="333333"/>
                </a:solidFill>
                <a:latin typeface="Calibri" pitchFamily="34" charset="0"/>
                <a:ea typeface="Calibri" pitchFamily="34" charset="-122"/>
                <a:cs typeface="Calibri" pitchFamily="34" charset="-120"/>
              </a:rPr>
              <a:t>$162M in direct breach costs   </a:t>
            </a:r>
            <a:pPr indent="0" marL="0">
              <a:buNone/>
            </a:pPr>
            <a:r>
              <a:rPr lang="en-US" sz="1050" b="1" dirty="0">
                <a:solidFill>
                  <a:srgbClr val="B71C1C"/>
                </a:solidFill>
                <a:latin typeface="Calibri" pitchFamily="34" charset="0"/>
                <a:ea typeface="Calibri" pitchFamily="34" charset="-122"/>
                <a:cs typeface="Calibri" pitchFamily="34" charset="-120"/>
              </a:rPr>
              <a:t>Reputation: </a:t>
            </a:r>
            <a:pPr indent="0" marL="0">
              <a:buNone/>
            </a:pPr>
            <a:r>
              <a:rPr lang="en-US" sz="1050" dirty="0">
                <a:solidFill>
                  <a:srgbClr val="333333"/>
                </a:solidFill>
                <a:latin typeface="Calibri" pitchFamily="34" charset="0"/>
                <a:ea typeface="Calibri" pitchFamily="34" charset="-122"/>
                <a:cs typeface="Calibri" pitchFamily="34" charset="-120"/>
              </a:rPr>
              <a:t>CEO and CIO resign; long-term customer loss</a:t>
            </a:r>
            <a:endParaRPr lang="en-US" sz="1050" dirty="0"/>
          </a:p>
        </p:txBody>
      </p:sp>
      <p:sp>
        <p:nvSpPr>
          <p:cNvPr id="16" name="Shape 13"/>
          <p:cNvSpPr/>
          <p:nvPr/>
        </p:nvSpPr>
        <p:spPr>
          <a:xfrm>
            <a:off x="365760" y="3739896"/>
            <a:ext cx="8412480" cy="932688"/>
          </a:xfrm>
          <a:prstGeom prst="rect">
            <a:avLst/>
          </a:prstGeom>
          <a:solidFill>
            <a:srgbClr val="F5F5F5"/>
          </a:solidFill>
          <a:ln w="12700">
            <a:solidFill>
              <a:srgbClr val="DDDDDD"/>
            </a:solidFill>
            <a:prstDash val="solid"/>
          </a:ln>
        </p:spPr>
      </p:sp>
      <p:sp>
        <p:nvSpPr>
          <p:cNvPr id="17" name="Shape 14"/>
          <p:cNvSpPr/>
          <p:nvPr/>
        </p:nvSpPr>
        <p:spPr>
          <a:xfrm>
            <a:off x="365760" y="3739896"/>
            <a:ext cx="54864" cy="932688"/>
          </a:xfrm>
          <a:prstGeom prst="rect">
            <a:avLst/>
          </a:prstGeom>
          <a:solidFill>
            <a:srgbClr val="680001"/>
          </a:solidFill>
          <a:ln w="12700">
            <a:solidFill>
              <a:srgbClr val="680001"/>
            </a:solidFill>
            <a:prstDash val="solid"/>
          </a:ln>
        </p:spPr>
      </p:sp>
      <p:sp>
        <p:nvSpPr>
          <p:cNvPr id="18" name="Text 15"/>
          <p:cNvSpPr/>
          <p:nvPr/>
        </p:nvSpPr>
        <p:spPr>
          <a:xfrm>
            <a:off x="530352" y="3785616"/>
            <a:ext cx="8138160" cy="274320"/>
          </a:xfrm>
          <a:prstGeom prst="rect">
            <a:avLst/>
          </a:prstGeom>
          <a:noFill/>
          <a:ln/>
        </p:spPr>
        <p:txBody>
          <a:bodyPr wrap="square" rtlCol="0" anchor="ctr"/>
          <a:lstStyle/>
          <a:p>
            <a:pPr indent="0" marL="0">
              <a:buNone/>
            </a:pPr>
            <a:r>
              <a:rPr lang="en-US" sz="1250" b="1" dirty="0">
                <a:solidFill>
                  <a:srgbClr val="680001"/>
                </a:solidFill>
                <a:latin typeface="Calibri" pitchFamily="34" charset="0"/>
                <a:ea typeface="Calibri" pitchFamily="34" charset="-122"/>
                <a:cs typeface="Calibri" pitchFamily="34" charset="-120"/>
              </a:rPr>
              <a:t>University  ·  Network Outage or Data Breach</a:t>
            </a:r>
            <a:endParaRPr lang="en-US" sz="1250" dirty="0"/>
          </a:p>
        </p:txBody>
      </p:sp>
      <p:sp>
        <p:nvSpPr>
          <p:cNvPr id="19" name="Text 16"/>
          <p:cNvSpPr/>
          <p:nvPr/>
        </p:nvSpPr>
        <p:spPr>
          <a:xfrm>
            <a:off x="530352" y="4050792"/>
            <a:ext cx="8092440" cy="22860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Systems: </a:t>
            </a:r>
            <a:pPr indent="0" marL="0">
              <a:buNone/>
            </a:pPr>
            <a:r>
              <a:rPr lang="en-US" sz="1050" dirty="0">
                <a:solidFill>
                  <a:srgbClr val="333333"/>
                </a:solidFill>
                <a:latin typeface="Calibri" pitchFamily="34" charset="0"/>
                <a:ea typeface="Calibri" pitchFamily="34" charset="-122"/>
                <a:cs typeface="Calibri" pitchFamily="34" charset="-120"/>
              </a:rPr>
              <a:t>LMS, email, and student records offline   |   </a:t>
            </a:r>
            <a:pPr indent="0" marL="0">
              <a:buNone/>
            </a:pPr>
            <a:r>
              <a:rPr lang="en-US" sz="1050" b="1" dirty="0">
                <a:solidFill>
                  <a:srgbClr val="333333"/>
                </a:solidFill>
                <a:latin typeface="Calibri" pitchFamily="34" charset="0"/>
                <a:ea typeface="Calibri" pitchFamily="34" charset="-122"/>
                <a:cs typeface="Calibri" pitchFamily="34" charset="-120"/>
              </a:rPr>
              <a:t>Processes: </a:t>
            </a:r>
            <a:pPr indent="0" marL="0">
              <a:buNone/>
            </a:pPr>
            <a:r>
              <a:rPr lang="en-US" sz="1050" dirty="0">
                <a:solidFill>
                  <a:srgbClr val="333333"/>
                </a:solidFill>
                <a:latin typeface="Calibri" pitchFamily="34" charset="0"/>
                <a:ea typeface="Calibri" pitchFamily="34" charset="-122"/>
                <a:cs typeface="Calibri" pitchFamily="34" charset="-120"/>
              </a:rPr>
              <a:t>Classes cannot be delivered online   |   </a:t>
            </a:r>
            <a:pPr indent="0" marL="0">
              <a:buNone/>
            </a:pPr>
            <a:r>
              <a:rPr lang="en-US" sz="1050" b="1" dirty="0">
                <a:solidFill>
                  <a:srgbClr val="333333"/>
                </a:solidFill>
                <a:latin typeface="Calibri" pitchFamily="34" charset="0"/>
                <a:ea typeface="Calibri" pitchFamily="34" charset="-122"/>
                <a:cs typeface="Calibri" pitchFamily="34" charset="-120"/>
              </a:rPr>
              <a:t>Data: </a:t>
            </a:r>
            <a:pPr indent="0" marL="0">
              <a:buNone/>
            </a:pPr>
            <a:r>
              <a:rPr lang="en-US" sz="1050" dirty="0">
                <a:solidFill>
                  <a:srgbClr val="333333"/>
                </a:solidFill>
                <a:latin typeface="Calibri" pitchFamily="34" charset="0"/>
                <a:ea typeface="Calibri" pitchFamily="34" charset="-122"/>
                <a:cs typeface="Calibri" pitchFamily="34" charset="-120"/>
              </a:rPr>
              <a:t>Student financial aid and personal records exposed</a:t>
            </a:r>
            <a:endParaRPr lang="en-US" sz="1050" dirty="0"/>
          </a:p>
        </p:txBody>
      </p:sp>
      <p:sp>
        <p:nvSpPr>
          <p:cNvPr id="20" name="Text 17"/>
          <p:cNvSpPr/>
          <p:nvPr/>
        </p:nvSpPr>
        <p:spPr>
          <a:xfrm>
            <a:off x="530352" y="4306824"/>
            <a:ext cx="8092440" cy="292608"/>
          </a:xfrm>
          <a:prstGeom prst="rect">
            <a:avLst/>
          </a:prstGeom>
          <a:noFill/>
          <a:ln/>
        </p:spPr>
        <p:txBody>
          <a:bodyPr wrap="square" rtlCol="0" anchor="ctr"/>
          <a:lstStyle/>
          <a:p>
            <a:pPr indent="0" marL="0">
              <a:buNone/>
            </a:pPr>
            <a:r>
              <a:rPr lang="en-US" sz="1050" b="1" dirty="0">
                <a:solidFill>
                  <a:srgbClr val="B71C1C"/>
                </a:solidFill>
                <a:latin typeface="Calibri" pitchFamily="34" charset="0"/>
                <a:ea typeface="Calibri" pitchFamily="34" charset="-122"/>
                <a:cs typeface="Calibri" pitchFamily="34" charset="-120"/>
              </a:rPr>
              <a:t>Operations: </a:t>
            </a:r>
            <a:pPr indent="0" marL="0">
              <a:buNone/>
            </a:pPr>
            <a:r>
              <a:rPr lang="en-US" sz="1050" dirty="0">
                <a:solidFill>
                  <a:srgbClr val="333333"/>
                </a:solidFill>
                <a:latin typeface="Calibri" pitchFamily="34" charset="0"/>
                <a:ea typeface="Calibri" pitchFamily="34" charset="-122"/>
                <a:cs typeface="Calibri" pitchFamily="34" charset="-120"/>
              </a:rPr>
              <a:t>Instruction stops; staff cannot work remotely   </a:t>
            </a:r>
            <a:pPr indent="0" marL="0">
              <a:buNone/>
            </a:pPr>
            <a:r>
              <a:rPr lang="en-US" sz="1050" b="1" dirty="0">
                <a:solidFill>
                  <a:srgbClr val="B71C1C"/>
                </a:solidFill>
                <a:latin typeface="Calibri" pitchFamily="34" charset="0"/>
                <a:ea typeface="Calibri" pitchFamily="34" charset="-122"/>
                <a:cs typeface="Calibri" pitchFamily="34" charset="-120"/>
              </a:rPr>
              <a:t>Financial: </a:t>
            </a:r>
            <a:pPr indent="0" marL="0">
              <a:buNone/>
            </a:pPr>
            <a:r>
              <a:rPr lang="en-US" sz="1050" dirty="0">
                <a:solidFill>
                  <a:srgbClr val="333333"/>
                </a:solidFill>
                <a:latin typeface="Calibri" pitchFamily="34" charset="0"/>
                <a:ea typeface="Calibri" pitchFamily="34" charset="-122"/>
                <a:cs typeface="Calibri" pitchFamily="34" charset="-120"/>
              </a:rPr>
              <a:t>Regulatory fines under FERPA   </a:t>
            </a:r>
            <a:pPr indent="0" marL="0">
              <a:buNone/>
            </a:pPr>
            <a:r>
              <a:rPr lang="en-US" sz="1050" b="1" dirty="0">
                <a:solidFill>
                  <a:srgbClr val="B71C1C"/>
                </a:solidFill>
                <a:latin typeface="Calibri" pitchFamily="34" charset="0"/>
                <a:ea typeface="Calibri" pitchFamily="34" charset="-122"/>
                <a:cs typeface="Calibri" pitchFamily="34" charset="-120"/>
              </a:rPr>
              <a:t>Reputation: </a:t>
            </a:r>
            <a:pPr indent="0" marL="0">
              <a:buNone/>
            </a:pPr>
            <a:r>
              <a:rPr lang="en-US" sz="1050" dirty="0">
                <a:solidFill>
                  <a:srgbClr val="333333"/>
                </a:solidFill>
                <a:latin typeface="Calibri" pitchFamily="34" charset="0"/>
                <a:ea typeface="Calibri" pitchFamily="34" charset="-122"/>
                <a:cs typeface="Calibri" pitchFamily="34" charset="-120"/>
              </a:rPr>
              <a:t>Students and parents lose confidence in institution</a:t>
            </a:r>
            <a:endParaRPr lang="en-US" sz="1050" dirty="0"/>
          </a:p>
        </p:txBody>
      </p:sp>
      <p:sp>
        <p:nvSpPr>
          <p:cNvPr id="21" name="Shape 18"/>
          <p:cNvSpPr/>
          <p:nvPr/>
        </p:nvSpPr>
        <p:spPr>
          <a:xfrm>
            <a:off x="0" y="4800600"/>
            <a:ext cx="9144000" cy="342900"/>
          </a:xfrm>
          <a:prstGeom prst="rect">
            <a:avLst/>
          </a:prstGeom>
          <a:solidFill>
            <a:srgbClr val="680001"/>
          </a:solidFill>
          <a:ln w="12700">
            <a:solidFill>
              <a:srgbClr val="680001"/>
            </a:solidFill>
            <a:prstDash val="solid"/>
          </a:ln>
        </p:spPr>
      </p:sp>
      <p:sp>
        <p:nvSpPr>
          <p:cNvPr id="22" name="Text 19"/>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23" name="Text 20"/>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80001"/>
        </a:solidFill>
      </p:bgPr>
    </p:bg>
    <p:spTree>
      <p:nvGrpSpPr>
        <p:cNvPr id="1" name=""/>
        <p:cNvGrpSpPr/>
        <p:nvPr/>
      </p:nvGrpSpPr>
      <p:grpSpPr>
        <a:xfrm>
          <a:off x="0" y="0"/>
          <a:ext cx="0" cy="0"/>
          <a:chOff x="0" y="0"/>
          <a:chExt cx="0" cy="0"/>
        </a:xfrm>
      </p:grpSpPr>
      <p:pic>
        <p:nvPicPr>
          <p:cNvPr id="2" name="Image 0" descr="/home/claude/unoh_logo.png">    </p:cNvPr>
          <p:cNvPicPr>
            <a:picLocks noChangeAspect="1"/>
          </p:cNvPicPr>
          <p:nvPr/>
        </p:nvPicPr>
        <p:blipFill>
          <a:blip r:embed="rId1"/>
          <a:srcRect l="0" r="0" t="0" b="0"/>
          <a:stretch/>
        </p:blipFill>
        <p:spPr>
          <a:xfrm>
            <a:off x="6858000" y="4389120"/>
            <a:ext cx="2011680" cy="640080"/>
          </a:xfrm>
          <a:prstGeom prst="rect">
            <a:avLst/>
          </a:prstGeom>
        </p:spPr>
      </p:pic>
      <p:sp>
        <p:nvSpPr>
          <p:cNvPr id="3" name="Text 0"/>
          <p:cNvSpPr/>
          <p:nvPr/>
        </p:nvSpPr>
        <p:spPr>
          <a:xfrm>
            <a:off x="548640" y="1188720"/>
            <a:ext cx="8229600" cy="411480"/>
          </a:xfrm>
          <a:prstGeom prst="rect">
            <a:avLst/>
          </a:prstGeom>
          <a:noFill/>
          <a:ln/>
        </p:spPr>
        <p:txBody>
          <a:bodyPr wrap="square" rtlCol="0" anchor="ctr"/>
          <a:lstStyle/>
          <a:p>
            <a:pPr indent="0" marL="0">
              <a:buNone/>
            </a:pPr>
            <a:r>
              <a:rPr lang="en-US" sz="1500" dirty="0">
                <a:solidFill>
                  <a:srgbClr val="F5C0C0"/>
                </a:solidFill>
                <a:latin typeface="Calibri" pitchFamily="34" charset="0"/>
                <a:ea typeface="Calibri" pitchFamily="34" charset="-122"/>
                <a:cs typeface="Calibri" pitchFamily="34" charset="-120"/>
              </a:rPr>
              <a:t>Module 1</a:t>
            </a:r>
            <a:endParaRPr lang="en-US" sz="1500" dirty="0"/>
          </a:p>
        </p:txBody>
      </p:sp>
      <p:sp>
        <p:nvSpPr>
          <p:cNvPr id="4" name="Text 1"/>
          <p:cNvSpPr/>
          <p:nvPr/>
        </p:nvSpPr>
        <p:spPr>
          <a:xfrm>
            <a:off x="548640" y="1627632"/>
            <a:ext cx="8229600" cy="13716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The CIA Triad</a:t>
            </a:r>
            <a:endParaRPr lang="en-US" sz="4400" dirty="0"/>
          </a:p>
        </p:txBody>
      </p:sp>
      <p:sp>
        <p:nvSpPr>
          <p:cNvPr id="5" name="Text 2"/>
          <p:cNvSpPr/>
          <p:nvPr/>
        </p:nvSpPr>
        <p:spPr>
          <a:xfrm>
            <a:off x="548640" y="3063240"/>
            <a:ext cx="7772400" cy="594360"/>
          </a:xfrm>
          <a:prstGeom prst="rect">
            <a:avLst/>
          </a:prstGeom>
          <a:noFill/>
          <a:ln/>
        </p:spPr>
        <p:txBody>
          <a:bodyPr wrap="square" rtlCol="0" anchor="ctr"/>
          <a:lstStyle/>
          <a:p>
            <a:pPr indent="0" marL="0">
              <a:buNone/>
            </a:pPr>
            <a:r>
              <a:rPr lang="en-US" sz="1600" i="1" dirty="0">
                <a:solidFill>
                  <a:srgbClr val="F5C0C0"/>
                </a:solidFill>
                <a:latin typeface="Calibri" pitchFamily="34" charset="0"/>
                <a:ea typeface="Calibri" pitchFamily="34" charset="-122"/>
                <a:cs typeface="Calibri" pitchFamily="34" charset="-120"/>
              </a:rPr>
              <a:t>Confidentiality · Integrity · Availability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CIA Triad — The Foundation of Information Security</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Shape 2"/>
          <p:cNvSpPr/>
          <p:nvPr/>
        </p:nvSpPr>
        <p:spPr>
          <a:xfrm>
            <a:off x="365760" y="1078992"/>
            <a:ext cx="8412480" cy="713232"/>
          </a:xfrm>
          <a:prstGeom prst="rect">
            <a:avLst/>
          </a:prstGeom>
          <a:solidFill>
            <a:srgbClr val="680001"/>
          </a:solidFill>
          <a:ln w="12700">
            <a:solidFill>
              <a:srgbClr val="680001"/>
            </a:solidFill>
            <a:prstDash val="solid"/>
          </a:ln>
        </p:spPr>
      </p:sp>
      <p:sp>
        <p:nvSpPr>
          <p:cNvPr id="6" name="Text 3"/>
          <p:cNvSpPr/>
          <p:nvPr/>
        </p:nvSpPr>
        <p:spPr>
          <a:xfrm>
            <a:off x="530352" y="1078992"/>
            <a:ext cx="8092440" cy="7132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CIA Triad is the most fundamental framework in information security. Every security control, every risk assessment, and every incident response plan is built around protecting one or more of these three properties.</a:t>
            </a:r>
            <a:endParaRPr lang="en-US" sz="1300" dirty="0"/>
          </a:p>
        </p:txBody>
      </p:sp>
      <p:sp>
        <p:nvSpPr>
          <p:cNvPr id="7" name="Shape 4"/>
          <p:cNvSpPr/>
          <p:nvPr/>
        </p:nvSpPr>
        <p:spPr>
          <a:xfrm>
            <a:off x="320040" y="1920240"/>
            <a:ext cx="2743200" cy="274320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8" name="Shape 5"/>
          <p:cNvSpPr/>
          <p:nvPr/>
        </p:nvSpPr>
        <p:spPr>
          <a:xfrm>
            <a:off x="320040" y="1920240"/>
            <a:ext cx="2743200" cy="658368"/>
          </a:xfrm>
          <a:prstGeom prst="rect">
            <a:avLst/>
          </a:prstGeom>
          <a:solidFill>
            <a:srgbClr val="680001"/>
          </a:solidFill>
          <a:ln w="12700">
            <a:solidFill>
              <a:srgbClr val="680001"/>
            </a:solidFill>
            <a:prstDash val="solid"/>
          </a:ln>
        </p:spPr>
      </p:sp>
      <p:sp>
        <p:nvSpPr>
          <p:cNvPr id="9" name="Text 6"/>
          <p:cNvSpPr/>
          <p:nvPr/>
        </p:nvSpPr>
        <p:spPr>
          <a:xfrm>
            <a:off x="320040" y="1920240"/>
            <a:ext cx="658368" cy="658368"/>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a:t>
            </a:r>
            <a:endParaRPr lang="en-US" sz="2800" dirty="0"/>
          </a:p>
        </p:txBody>
      </p:sp>
      <p:sp>
        <p:nvSpPr>
          <p:cNvPr id="10" name="Text 7"/>
          <p:cNvSpPr/>
          <p:nvPr/>
        </p:nvSpPr>
        <p:spPr>
          <a:xfrm>
            <a:off x="1005840" y="1920240"/>
            <a:ext cx="2011680" cy="658368"/>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Confidentiality</a:t>
            </a:r>
            <a:endParaRPr lang="en-US" sz="1700" dirty="0"/>
          </a:p>
        </p:txBody>
      </p:sp>
      <p:sp>
        <p:nvSpPr>
          <p:cNvPr id="11" name="Text 8"/>
          <p:cNvSpPr/>
          <p:nvPr/>
        </p:nvSpPr>
        <p:spPr>
          <a:xfrm>
            <a:off x="429768" y="2633472"/>
            <a:ext cx="2523744" cy="457200"/>
          </a:xfrm>
          <a:prstGeom prst="rect">
            <a:avLst/>
          </a:prstGeom>
          <a:noFill/>
          <a:ln/>
        </p:spPr>
        <p:txBody>
          <a:bodyPr wrap="square" rtlCol="0" anchor="ctr"/>
          <a:lstStyle/>
          <a:p>
            <a:pPr indent="0" marL="0">
              <a:buNone/>
            </a:pPr>
            <a:r>
              <a:rPr lang="en-US" sz="1100" b="1" i="1" dirty="0">
                <a:solidFill>
                  <a:srgbClr val="680001"/>
                </a:solidFill>
                <a:latin typeface="Calibri" pitchFamily="34" charset="0"/>
                <a:ea typeface="Calibri" pitchFamily="34" charset="-122"/>
                <a:cs typeface="Calibri" pitchFamily="34" charset="-120"/>
              </a:rPr>
              <a:t>Information is accessible only to those who are authorized to see it.</a:t>
            </a:r>
            <a:endParaRPr lang="en-US" sz="1100" dirty="0"/>
          </a:p>
        </p:txBody>
      </p:sp>
      <p:sp>
        <p:nvSpPr>
          <p:cNvPr id="12" name="Text 9"/>
          <p:cNvSpPr/>
          <p:nvPr/>
        </p:nvSpPr>
        <p:spPr>
          <a:xfrm>
            <a:off x="429768" y="3090672"/>
            <a:ext cx="2523744" cy="320040"/>
          </a:xfrm>
          <a:prstGeom prst="rect">
            <a:avLst/>
          </a:prstGeom>
          <a:noFill/>
          <a:ln/>
        </p:spPr>
        <p:txBody>
          <a:bodyPr wrap="square" rtlCol="0" anchor="ctr"/>
          <a:lstStyle/>
          <a:p>
            <a:pPr indent="0" marL="0">
              <a:buNone/>
            </a:pPr>
            <a:r>
              <a:rPr lang="en-US" sz="1100" i="1" dirty="0">
                <a:solidFill>
                  <a:srgbClr val="333333"/>
                </a:solidFill>
                <a:latin typeface="Calibri" pitchFamily="34" charset="0"/>
                <a:ea typeface="Calibri" pitchFamily="34" charset="-122"/>
                <a:cs typeface="Calibri" pitchFamily="34" charset="-120"/>
              </a:rPr>
              <a:t>The right people can access information — and no one else can.</a:t>
            </a:r>
            <a:endParaRPr lang="en-US" sz="1100" dirty="0"/>
          </a:p>
        </p:txBody>
      </p:sp>
      <p:sp>
        <p:nvSpPr>
          <p:cNvPr id="13" name="Text 10"/>
          <p:cNvSpPr/>
          <p:nvPr/>
        </p:nvSpPr>
        <p:spPr>
          <a:xfrm>
            <a:off x="429768" y="3438144"/>
            <a:ext cx="2523744" cy="548640"/>
          </a:xfrm>
          <a:prstGeom prst="rect">
            <a:avLst/>
          </a:prstGeom>
          <a:noFill/>
          <a:ln/>
        </p:spPr>
        <p:txBody>
          <a:bodyPr wrap="square" rtlCol="0" anchor="ctr"/>
          <a:lstStyle/>
          <a:p>
            <a:pPr indent="0" marL="0">
              <a:buNone/>
            </a:pPr>
            <a:r>
              <a:rPr lang="en-US" sz="1050" dirty="0">
                <a:solidFill>
                  <a:srgbClr val="B71C1C"/>
                </a:solidFill>
                <a:latin typeface="Calibri" pitchFamily="34" charset="0"/>
                <a:ea typeface="Calibri" pitchFamily="34" charset="-122"/>
                <a:cs typeface="Calibri" pitchFamily="34" charset="-120"/>
              </a:rPr>
              <a:t>Confidentiality is violated when unauthorized people access, view, or steal information they should not have.</a:t>
            </a:r>
            <a:endParaRPr lang="en-US" sz="1050" dirty="0"/>
          </a:p>
        </p:txBody>
      </p:sp>
      <p:sp>
        <p:nvSpPr>
          <p:cNvPr id="14" name="Shape 11"/>
          <p:cNvSpPr/>
          <p:nvPr/>
        </p:nvSpPr>
        <p:spPr>
          <a:xfrm>
            <a:off x="3246120" y="1920240"/>
            <a:ext cx="2743200" cy="274320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5" name="Shape 12"/>
          <p:cNvSpPr/>
          <p:nvPr/>
        </p:nvSpPr>
        <p:spPr>
          <a:xfrm>
            <a:off x="3246120" y="1920240"/>
            <a:ext cx="2743200" cy="658368"/>
          </a:xfrm>
          <a:prstGeom prst="rect">
            <a:avLst/>
          </a:prstGeom>
          <a:solidFill>
            <a:srgbClr val="1A4A8A"/>
          </a:solidFill>
          <a:ln w="12700">
            <a:solidFill>
              <a:srgbClr val="1A4A8A"/>
            </a:solidFill>
            <a:prstDash val="solid"/>
          </a:ln>
        </p:spPr>
      </p:sp>
      <p:sp>
        <p:nvSpPr>
          <p:cNvPr id="16" name="Text 13"/>
          <p:cNvSpPr/>
          <p:nvPr/>
        </p:nvSpPr>
        <p:spPr>
          <a:xfrm>
            <a:off x="3246120" y="1920240"/>
            <a:ext cx="658368" cy="658368"/>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a:t>
            </a:r>
            <a:endParaRPr lang="en-US" sz="2800" dirty="0"/>
          </a:p>
        </p:txBody>
      </p:sp>
      <p:sp>
        <p:nvSpPr>
          <p:cNvPr id="17" name="Text 14"/>
          <p:cNvSpPr/>
          <p:nvPr/>
        </p:nvSpPr>
        <p:spPr>
          <a:xfrm>
            <a:off x="3931920" y="1920240"/>
            <a:ext cx="2011680" cy="658368"/>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Integrity</a:t>
            </a:r>
            <a:endParaRPr lang="en-US" sz="1700" dirty="0"/>
          </a:p>
        </p:txBody>
      </p:sp>
      <p:sp>
        <p:nvSpPr>
          <p:cNvPr id="18" name="Text 15"/>
          <p:cNvSpPr/>
          <p:nvPr/>
        </p:nvSpPr>
        <p:spPr>
          <a:xfrm>
            <a:off x="3355848" y="2633472"/>
            <a:ext cx="2523744" cy="457200"/>
          </a:xfrm>
          <a:prstGeom prst="rect">
            <a:avLst/>
          </a:prstGeom>
          <a:noFill/>
          <a:ln/>
        </p:spPr>
        <p:txBody>
          <a:bodyPr wrap="square" rtlCol="0" anchor="ctr"/>
          <a:lstStyle/>
          <a:p>
            <a:pPr indent="0" marL="0">
              <a:buNone/>
            </a:pPr>
            <a:r>
              <a:rPr lang="en-US" sz="1100" b="1" i="1" dirty="0">
                <a:solidFill>
                  <a:srgbClr val="1A4A8A"/>
                </a:solidFill>
                <a:latin typeface="Calibri" pitchFamily="34" charset="0"/>
                <a:ea typeface="Calibri" pitchFamily="34" charset="-122"/>
                <a:cs typeface="Calibri" pitchFamily="34" charset="-120"/>
              </a:rPr>
              <a:t>Information is accurate, complete, and has not been altered without authorization.</a:t>
            </a:r>
            <a:endParaRPr lang="en-US" sz="1100" dirty="0"/>
          </a:p>
        </p:txBody>
      </p:sp>
      <p:sp>
        <p:nvSpPr>
          <p:cNvPr id="19" name="Text 16"/>
          <p:cNvSpPr/>
          <p:nvPr/>
        </p:nvSpPr>
        <p:spPr>
          <a:xfrm>
            <a:off x="3355848" y="3090672"/>
            <a:ext cx="2523744" cy="320040"/>
          </a:xfrm>
          <a:prstGeom prst="rect">
            <a:avLst/>
          </a:prstGeom>
          <a:noFill/>
          <a:ln/>
        </p:spPr>
        <p:txBody>
          <a:bodyPr wrap="square" rtlCol="0" anchor="ctr"/>
          <a:lstStyle/>
          <a:p>
            <a:pPr indent="0" marL="0">
              <a:buNone/>
            </a:pPr>
            <a:r>
              <a:rPr lang="en-US" sz="1100" i="1" dirty="0">
                <a:solidFill>
                  <a:srgbClr val="333333"/>
                </a:solidFill>
                <a:latin typeface="Calibri" pitchFamily="34" charset="0"/>
                <a:ea typeface="Calibri" pitchFamily="34" charset="-122"/>
                <a:cs typeface="Calibri" pitchFamily="34" charset="-120"/>
              </a:rPr>
              <a:t>Data can be trusted to be exactly what it's supposed to be — unchanged and uncorrupted.</a:t>
            </a:r>
            <a:endParaRPr lang="en-US" sz="1100" dirty="0"/>
          </a:p>
        </p:txBody>
      </p:sp>
      <p:sp>
        <p:nvSpPr>
          <p:cNvPr id="20" name="Text 17"/>
          <p:cNvSpPr/>
          <p:nvPr/>
        </p:nvSpPr>
        <p:spPr>
          <a:xfrm>
            <a:off x="3355848" y="3438144"/>
            <a:ext cx="2523744" cy="548640"/>
          </a:xfrm>
          <a:prstGeom prst="rect">
            <a:avLst/>
          </a:prstGeom>
          <a:noFill/>
          <a:ln/>
        </p:spPr>
        <p:txBody>
          <a:bodyPr wrap="square" rtlCol="0" anchor="ctr"/>
          <a:lstStyle/>
          <a:p>
            <a:pPr indent="0" marL="0">
              <a:buNone/>
            </a:pPr>
            <a:r>
              <a:rPr lang="en-US" sz="1050" dirty="0">
                <a:solidFill>
                  <a:srgbClr val="B71C1C"/>
                </a:solidFill>
                <a:latin typeface="Calibri" pitchFamily="34" charset="0"/>
                <a:ea typeface="Calibri" pitchFamily="34" charset="-122"/>
                <a:cs typeface="Calibri" pitchFamily="34" charset="-120"/>
              </a:rPr>
              <a:t>Integrity is violated when data is changed — intentionally by an attacker, or accidentally due to system errors or poor controls.</a:t>
            </a:r>
            <a:endParaRPr lang="en-US" sz="1050" dirty="0"/>
          </a:p>
        </p:txBody>
      </p:sp>
      <p:sp>
        <p:nvSpPr>
          <p:cNvPr id="21" name="Shape 18"/>
          <p:cNvSpPr/>
          <p:nvPr/>
        </p:nvSpPr>
        <p:spPr>
          <a:xfrm>
            <a:off x="6172200" y="1920240"/>
            <a:ext cx="2743200" cy="274320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22" name="Shape 19"/>
          <p:cNvSpPr/>
          <p:nvPr/>
        </p:nvSpPr>
        <p:spPr>
          <a:xfrm>
            <a:off x="6172200" y="1920240"/>
            <a:ext cx="2743200" cy="658368"/>
          </a:xfrm>
          <a:prstGeom prst="rect">
            <a:avLst/>
          </a:prstGeom>
          <a:solidFill>
            <a:srgbClr val="1A6A1A"/>
          </a:solidFill>
          <a:ln w="12700">
            <a:solidFill>
              <a:srgbClr val="1A6A1A"/>
            </a:solidFill>
            <a:prstDash val="solid"/>
          </a:ln>
        </p:spPr>
      </p:sp>
      <p:sp>
        <p:nvSpPr>
          <p:cNvPr id="23" name="Text 20"/>
          <p:cNvSpPr/>
          <p:nvPr/>
        </p:nvSpPr>
        <p:spPr>
          <a:xfrm>
            <a:off x="6172200" y="1920240"/>
            <a:ext cx="658368" cy="658368"/>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a:t>
            </a:r>
            <a:endParaRPr lang="en-US" sz="2800" dirty="0"/>
          </a:p>
        </p:txBody>
      </p:sp>
      <p:sp>
        <p:nvSpPr>
          <p:cNvPr id="24" name="Text 21"/>
          <p:cNvSpPr/>
          <p:nvPr/>
        </p:nvSpPr>
        <p:spPr>
          <a:xfrm>
            <a:off x="6858000" y="1920240"/>
            <a:ext cx="2011680" cy="658368"/>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Availability</a:t>
            </a:r>
            <a:endParaRPr lang="en-US" sz="1700" dirty="0"/>
          </a:p>
        </p:txBody>
      </p:sp>
      <p:sp>
        <p:nvSpPr>
          <p:cNvPr id="25" name="Text 22"/>
          <p:cNvSpPr/>
          <p:nvPr/>
        </p:nvSpPr>
        <p:spPr>
          <a:xfrm>
            <a:off x="6281928" y="2633472"/>
            <a:ext cx="2523744" cy="457200"/>
          </a:xfrm>
          <a:prstGeom prst="rect">
            <a:avLst/>
          </a:prstGeom>
          <a:noFill/>
          <a:ln/>
        </p:spPr>
        <p:txBody>
          <a:bodyPr wrap="square" rtlCol="0" anchor="ctr"/>
          <a:lstStyle/>
          <a:p>
            <a:pPr indent="0" marL="0">
              <a:buNone/>
            </a:pPr>
            <a:r>
              <a:rPr lang="en-US" sz="1100" b="1" i="1" dirty="0">
                <a:solidFill>
                  <a:srgbClr val="1A6A1A"/>
                </a:solidFill>
                <a:latin typeface="Calibri" pitchFamily="34" charset="0"/>
                <a:ea typeface="Calibri" pitchFamily="34" charset="-122"/>
                <a:cs typeface="Calibri" pitchFamily="34" charset="-120"/>
              </a:rPr>
              <a:t>Systems, services, and data are accessible and operational when authorized users need them.</a:t>
            </a:r>
            <a:endParaRPr lang="en-US" sz="1100" dirty="0"/>
          </a:p>
        </p:txBody>
      </p:sp>
      <p:sp>
        <p:nvSpPr>
          <p:cNvPr id="26" name="Text 23"/>
          <p:cNvSpPr/>
          <p:nvPr/>
        </p:nvSpPr>
        <p:spPr>
          <a:xfrm>
            <a:off x="6281928" y="3090672"/>
            <a:ext cx="2523744" cy="320040"/>
          </a:xfrm>
          <a:prstGeom prst="rect">
            <a:avLst/>
          </a:prstGeom>
          <a:noFill/>
          <a:ln/>
        </p:spPr>
        <p:txBody>
          <a:bodyPr wrap="square" rtlCol="0" anchor="ctr"/>
          <a:lstStyle/>
          <a:p>
            <a:pPr indent="0" marL="0">
              <a:buNone/>
            </a:pPr>
            <a:r>
              <a:rPr lang="en-US" sz="1100" i="1" dirty="0">
                <a:solidFill>
                  <a:srgbClr val="333333"/>
                </a:solidFill>
                <a:latin typeface="Calibri" pitchFamily="34" charset="0"/>
                <a:ea typeface="Calibri" pitchFamily="34" charset="-122"/>
                <a:cs typeface="Calibri" pitchFamily="34" charset="-120"/>
              </a:rPr>
              <a:t>The system works when people need to use it — no downtime, no lockouts, no delays.</a:t>
            </a:r>
            <a:endParaRPr lang="en-US" sz="1100" dirty="0"/>
          </a:p>
        </p:txBody>
      </p:sp>
      <p:sp>
        <p:nvSpPr>
          <p:cNvPr id="27" name="Text 24"/>
          <p:cNvSpPr/>
          <p:nvPr/>
        </p:nvSpPr>
        <p:spPr>
          <a:xfrm>
            <a:off x="6281928" y="3438144"/>
            <a:ext cx="2523744" cy="548640"/>
          </a:xfrm>
          <a:prstGeom prst="rect">
            <a:avLst/>
          </a:prstGeom>
          <a:noFill/>
          <a:ln/>
        </p:spPr>
        <p:txBody>
          <a:bodyPr wrap="square" rtlCol="0" anchor="ctr"/>
          <a:lstStyle/>
          <a:p>
            <a:pPr indent="0" marL="0">
              <a:buNone/>
            </a:pPr>
            <a:r>
              <a:rPr lang="en-US" sz="1050" dirty="0">
                <a:solidFill>
                  <a:srgbClr val="B71C1C"/>
                </a:solidFill>
                <a:latin typeface="Calibri" pitchFamily="34" charset="0"/>
                <a:ea typeface="Calibri" pitchFamily="34" charset="-122"/>
                <a:cs typeface="Calibri" pitchFamily="34" charset="-120"/>
              </a:rPr>
              <a:t>Availability is violated when authorized users cannot access systems or data — whether from attacks, outages, or capacity failures.</a:t>
            </a:r>
            <a:endParaRPr lang="en-US" sz="1050" dirty="0"/>
          </a:p>
        </p:txBody>
      </p:sp>
      <p:sp>
        <p:nvSpPr>
          <p:cNvPr id="28" name="Shape 25"/>
          <p:cNvSpPr/>
          <p:nvPr/>
        </p:nvSpPr>
        <p:spPr>
          <a:xfrm>
            <a:off x="0" y="4800600"/>
            <a:ext cx="9144000" cy="342900"/>
          </a:xfrm>
          <a:prstGeom prst="rect">
            <a:avLst/>
          </a:prstGeom>
          <a:solidFill>
            <a:srgbClr val="680001"/>
          </a:solidFill>
          <a:ln w="12700">
            <a:solidFill>
              <a:srgbClr val="680001"/>
            </a:solidFill>
            <a:prstDash val="solid"/>
          </a:ln>
        </p:spPr>
      </p:sp>
      <p:sp>
        <p:nvSpPr>
          <p:cNvPr id="29" name="Text 26"/>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30" name="Text 27"/>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Confidentiality — The Right People See the Right Information</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Shape 2"/>
          <p:cNvSpPr/>
          <p:nvPr/>
        </p:nvSpPr>
        <p:spPr>
          <a:xfrm>
            <a:off x="365760" y="1078992"/>
            <a:ext cx="8412480" cy="621792"/>
          </a:xfrm>
          <a:prstGeom prst="rect">
            <a:avLst/>
          </a:prstGeom>
          <a:solidFill>
            <a:srgbClr val="680001"/>
          </a:solidFill>
          <a:ln w="12700">
            <a:solidFill>
              <a:srgbClr val="680001"/>
            </a:solidFill>
            <a:prstDash val="solid"/>
          </a:ln>
        </p:spPr>
      </p:sp>
      <p:sp>
        <p:nvSpPr>
          <p:cNvPr id="6" name="Text 3"/>
          <p:cNvSpPr/>
          <p:nvPr/>
        </p:nvSpPr>
        <p:spPr>
          <a:xfrm>
            <a:off x="512064" y="1078992"/>
            <a:ext cx="8092440" cy="621792"/>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Confidentiality</a:t>
            </a:r>
            <a:pPr indent="0" marL="0">
              <a:buNone/>
            </a:pPr>
            <a:r>
              <a:rPr lang="en-US" sz="1400" dirty="0">
                <a:solidFill>
                  <a:srgbClr val="FFFFFF"/>
                </a:solidFill>
                <a:latin typeface="Calibri" pitchFamily="34" charset="0"/>
                <a:ea typeface="Calibri" pitchFamily="34" charset="-122"/>
                <a:cs typeface="Calibri" pitchFamily="34" charset="-120"/>
              </a:rPr>
              <a:t> means that information is only accessible to those who are authorized to have it — and protected from everyone else.</a:t>
            </a:r>
            <a:endParaRPr lang="en-US" sz="1800" dirty="0"/>
          </a:p>
        </p:txBody>
      </p:sp>
      <p:sp>
        <p:nvSpPr>
          <p:cNvPr id="7" name="Text 4"/>
          <p:cNvSpPr/>
          <p:nvPr/>
        </p:nvSpPr>
        <p:spPr>
          <a:xfrm>
            <a:off x="411480" y="1792224"/>
            <a:ext cx="4114800" cy="347472"/>
          </a:xfrm>
          <a:prstGeom prst="rect">
            <a:avLst/>
          </a:prstGeom>
          <a:noFill/>
          <a:ln/>
        </p:spPr>
        <p:txBody>
          <a:bodyPr wrap="square" rtlCol="0" anchor="ctr"/>
          <a:lstStyle/>
          <a:p>
            <a:pPr indent="0" marL="0">
              <a:buNone/>
            </a:pPr>
            <a:r>
              <a:rPr lang="en-US" sz="1400" b="1" dirty="0">
                <a:solidFill>
                  <a:srgbClr val="680001"/>
                </a:solidFill>
                <a:latin typeface="Calibri" pitchFamily="34" charset="0"/>
                <a:ea typeface="Calibri" pitchFamily="34" charset="-122"/>
                <a:cs typeface="Calibri" pitchFamily="34" charset="-120"/>
              </a:rPr>
              <a:t>How Organizations Protect Confidentiality</a:t>
            </a:r>
            <a:endParaRPr lang="en-US" sz="1400" dirty="0"/>
          </a:p>
        </p:txBody>
      </p:sp>
      <p:sp>
        <p:nvSpPr>
          <p:cNvPr id="8" name="Shape 5"/>
          <p:cNvSpPr/>
          <p:nvPr/>
        </p:nvSpPr>
        <p:spPr>
          <a:xfrm>
            <a:off x="365760" y="2176272"/>
            <a:ext cx="4114800" cy="566928"/>
          </a:xfrm>
          <a:prstGeom prst="rect">
            <a:avLst/>
          </a:prstGeom>
          <a:solidFill>
            <a:srgbClr val="F5F5F5"/>
          </a:solidFill>
          <a:ln w="12700">
            <a:solidFill>
              <a:srgbClr val="DDDDDD"/>
            </a:solidFill>
            <a:prstDash val="solid"/>
          </a:ln>
        </p:spPr>
      </p:sp>
      <p:sp>
        <p:nvSpPr>
          <p:cNvPr id="9" name="Shape 6"/>
          <p:cNvSpPr/>
          <p:nvPr/>
        </p:nvSpPr>
        <p:spPr>
          <a:xfrm>
            <a:off x="365760" y="2176272"/>
            <a:ext cx="54864" cy="566928"/>
          </a:xfrm>
          <a:prstGeom prst="rect">
            <a:avLst/>
          </a:prstGeom>
          <a:solidFill>
            <a:srgbClr val="680001"/>
          </a:solidFill>
          <a:ln w="12700">
            <a:solidFill>
              <a:srgbClr val="680001"/>
            </a:solidFill>
            <a:prstDash val="solid"/>
          </a:ln>
        </p:spPr>
      </p:sp>
      <p:sp>
        <p:nvSpPr>
          <p:cNvPr id="10" name="Text 7"/>
          <p:cNvSpPr/>
          <p:nvPr/>
        </p:nvSpPr>
        <p:spPr>
          <a:xfrm>
            <a:off x="512064" y="2212848"/>
            <a:ext cx="3840480" cy="22860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Access Controls: </a:t>
            </a:r>
            <a:endParaRPr lang="en-US" sz="1200" dirty="0"/>
          </a:p>
        </p:txBody>
      </p:sp>
      <p:sp>
        <p:nvSpPr>
          <p:cNvPr id="11" name="Text 8"/>
          <p:cNvSpPr/>
          <p:nvPr/>
        </p:nvSpPr>
        <p:spPr>
          <a:xfrm>
            <a:off x="512064" y="2450592"/>
            <a:ext cx="3840480" cy="25603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Usernames and passwords ensure only authorized individuals can log into systems. Role-based access limits what each person can see — a nurse can view patient charts; a billing clerk cannot.</a:t>
            </a:r>
            <a:endParaRPr lang="en-US" sz="1050" dirty="0"/>
          </a:p>
        </p:txBody>
      </p:sp>
      <p:sp>
        <p:nvSpPr>
          <p:cNvPr id="12" name="Shape 9"/>
          <p:cNvSpPr/>
          <p:nvPr/>
        </p:nvSpPr>
        <p:spPr>
          <a:xfrm>
            <a:off x="365760" y="2816352"/>
            <a:ext cx="4114800" cy="566928"/>
          </a:xfrm>
          <a:prstGeom prst="rect">
            <a:avLst/>
          </a:prstGeom>
          <a:solidFill>
            <a:srgbClr val="FFFFFF"/>
          </a:solidFill>
          <a:ln w="12700">
            <a:solidFill>
              <a:srgbClr val="DDDDDD"/>
            </a:solidFill>
            <a:prstDash val="solid"/>
          </a:ln>
        </p:spPr>
      </p:sp>
      <p:sp>
        <p:nvSpPr>
          <p:cNvPr id="13" name="Shape 10"/>
          <p:cNvSpPr/>
          <p:nvPr/>
        </p:nvSpPr>
        <p:spPr>
          <a:xfrm>
            <a:off x="365760" y="2816352"/>
            <a:ext cx="54864" cy="566928"/>
          </a:xfrm>
          <a:prstGeom prst="rect">
            <a:avLst/>
          </a:prstGeom>
          <a:solidFill>
            <a:srgbClr val="680001"/>
          </a:solidFill>
          <a:ln w="12700">
            <a:solidFill>
              <a:srgbClr val="680001"/>
            </a:solidFill>
            <a:prstDash val="solid"/>
          </a:ln>
        </p:spPr>
      </p:sp>
      <p:sp>
        <p:nvSpPr>
          <p:cNvPr id="14" name="Text 11"/>
          <p:cNvSpPr/>
          <p:nvPr/>
        </p:nvSpPr>
        <p:spPr>
          <a:xfrm>
            <a:off x="512064" y="2852928"/>
            <a:ext cx="3840480" cy="22860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Encryption: </a:t>
            </a:r>
            <a:endParaRPr lang="en-US" sz="1200" dirty="0"/>
          </a:p>
        </p:txBody>
      </p:sp>
      <p:sp>
        <p:nvSpPr>
          <p:cNvPr id="15" name="Text 12"/>
          <p:cNvSpPr/>
          <p:nvPr/>
        </p:nvSpPr>
        <p:spPr>
          <a:xfrm>
            <a:off x="512064" y="3090672"/>
            <a:ext cx="3840480" cy="25603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Data is scrambled so that even if it is intercepted or stolen, it cannot be read without the decryption key. Encryption protects data in transit (over networks) and at rest (on storage devices).</a:t>
            </a:r>
            <a:endParaRPr lang="en-US" sz="1050" dirty="0"/>
          </a:p>
        </p:txBody>
      </p:sp>
      <p:sp>
        <p:nvSpPr>
          <p:cNvPr id="16" name="Shape 13"/>
          <p:cNvSpPr/>
          <p:nvPr/>
        </p:nvSpPr>
        <p:spPr>
          <a:xfrm>
            <a:off x="365760" y="3456432"/>
            <a:ext cx="4114800" cy="566928"/>
          </a:xfrm>
          <a:prstGeom prst="rect">
            <a:avLst/>
          </a:prstGeom>
          <a:solidFill>
            <a:srgbClr val="F5F5F5"/>
          </a:solidFill>
          <a:ln w="12700">
            <a:solidFill>
              <a:srgbClr val="DDDDDD"/>
            </a:solidFill>
            <a:prstDash val="solid"/>
          </a:ln>
        </p:spPr>
      </p:sp>
      <p:sp>
        <p:nvSpPr>
          <p:cNvPr id="17" name="Shape 14"/>
          <p:cNvSpPr/>
          <p:nvPr/>
        </p:nvSpPr>
        <p:spPr>
          <a:xfrm>
            <a:off x="365760" y="3456432"/>
            <a:ext cx="54864" cy="566928"/>
          </a:xfrm>
          <a:prstGeom prst="rect">
            <a:avLst/>
          </a:prstGeom>
          <a:solidFill>
            <a:srgbClr val="680001"/>
          </a:solidFill>
          <a:ln w="12700">
            <a:solidFill>
              <a:srgbClr val="680001"/>
            </a:solidFill>
            <a:prstDash val="solid"/>
          </a:ln>
        </p:spPr>
      </p:sp>
      <p:sp>
        <p:nvSpPr>
          <p:cNvPr id="18" name="Text 15"/>
          <p:cNvSpPr/>
          <p:nvPr/>
        </p:nvSpPr>
        <p:spPr>
          <a:xfrm>
            <a:off x="512064" y="3493008"/>
            <a:ext cx="3840480" cy="22860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Data Classification: </a:t>
            </a:r>
            <a:endParaRPr lang="en-US" sz="1200" dirty="0"/>
          </a:p>
        </p:txBody>
      </p:sp>
      <p:sp>
        <p:nvSpPr>
          <p:cNvPr id="19" name="Text 16"/>
          <p:cNvSpPr/>
          <p:nvPr/>
        </p:nvSpPr>
        <p:spPr>
          <a:xfrm>
            <a:off x="512064" y="3730752"/>
            <a:ext cx="3840480" cy="25603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Organizations label data by sensitivity — Public, Internal, Confidential, Restricted — and apply different protections to each level. Not every file needs the same protection.</a:t>
            </a:r>
            <a:endParaRPr lang="en-US" sz="1050" dirty="0"/>
          </a:p>
        </p:txBody>
      </p:sp>
      <p:sp>
        <p:nvSpPr>
          <p:cNvPr id="20" name="Shape 17"/>
          <p:cNvSpPr/>
          <p:nvPr/>
        </p:nvSpPr>
        <p:spPr>
          <a:xfrm>
            <a:off x="365760" y="4096512"/>
            <a:ext cx="4114800" cy="566928"/>
          </a:xfrm>
          <a:prstGeom prst="rect">
            <a:avLst/>
          </a:prstGeom>
          <a:solidFill>
            <a:srgbClr val="FFFFFF"/>
          </a:solidFill>
          <a:ln w="12700">
            <a:solidFill>
              <a:srgbClr val="DDDDDD"/>
            </a:solidFill>
            <a:prstDash val="solid"/>
          </a:ln>
        </p:spPr>
      </p:sp>
      <p:sp>
        <p:nvSpPr>
          <p:cNvPr id="21" name="Shape 18"/>
          <p:cNvSpPr/>
          <p:nvPr/>
        </p:nvSpPr>
        <p:spPr>
          <a:xfrm>
            <a:off x="365760" y="4096512"/>
            <a:ext cx="54864" cy="566928"/>
          </a:xfrm>
          <a:prstGeom prst="rect">
            <a:avLst/>
          </a:prstGeom>
          <a:solidFill>
            <a:srgbClr val="680001"/>
          </a:solidFill>
          <a:ln w="12700">
            <a:solidFill>
              <a:srgbClr val="680001"/>
            </a:solidFill>
            <a:prstDash val="solid"/>
          </a:ln>
        </p:spPr>
      </p:sp>
      <p:sp>
        <p:nvSpPr>
          <p:cNvPr id="22" name="Text 19"/>
          <p:cNvSpPr/>
          <p:nvPr/>
        </p:nvSpPr>
        <p:spPr>
          <a:xfrm>
            <a:off x="512064" y="4133088"/>
            <a:ext cx="3840480" cy="22860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Need-to-Know Principle: </a:t>
            </a:r>
            <a:endParaRPr lang="en-US" sz="1200" dirty="0"/>
          </a:p>
        </p:txBody>
      </p:sp>
      <p:sp>
        <p:nvSpPr>
          <p:cNvPr id="23" name="Text 20"/>
          <p:cNvSpPr/>
          <p:nvPr/>
        </p:nvSpPr>
        <p:spPr>
          <a:xfrm>
            <a:off x="512064" y="4370832"/>
            <a:ext cx="3840480" cy="25603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Even within an authorized group, information is shared only with those who genuinely need it for their work. A manager does not need access to every employee's personal HR file.</a:t>
            </a:r>
            <a:endParaRPr lang="en-US" sz="1050" dirty="0"/>
          </a:p>
        </p:txBody>
      </p:sp>
      <p:sp>
        <p:nvSpPr>
          <p:cNvPr id="24" name="Text 21"/>
          <p:cNvSpPr/>
          <p:nvPr/>
        </p:nvSpPr>
        <p:spPr>
          <a:xfrm>
            <a:off x="4663440" y="1792224"/>
            <a:ext cx="4114800" cy="347472"/>
          </a:xfrm>
          <a:prstGeom prst="rect">
            <a:avLst/>
          </a:prstGeom>
          <a:noFill/>
          <a:ln/>
        </p:spPr>
        <p:txBody>
          <a:bodyPr wrap="square" rtlCol="0" anchor="ctr"/>
          <a:lstStyle/>
          <a:p>
            <a:pPr indent="0" marL="0">
              <a:buNone/>
            </a:pPr>
            <a:r>
              <a:rPr lang="en-US" sz="1400" b="1" dirty="0">
                <a:solidFill>
                  <a:srgbClr val="680001"/>
                </a:solidFill>
                <a:latin typeface="Calibri" pitchFamily="34" charset="0"/>
                <a:ea typeface="Calibri" pitchFamily="34" charset="-122"/>
                <a:cs typeface="Calibri" pitchFamily="34" charset="-120"/>
              </a:rPr>
              <a:t>When Confidentiality Fails — Business Consequences</a:t>
            </a:r>
            <a:endParaRPr lang="en-US" sz="1400" dirty="0"/>
          </a:p>
        </p:txBody>
      </p:sp>
      <p:sp>
        <p:nvSpPr>
          <p:cNvPr id="25" name="Shape 22"/>
          <p:cNvSpPr/>
          <p:nvPr/>
        </p:nvSpPr>
        <p:spPr>
          <a:xfrm>
            <a:off x="4617720" y="2176272"/>
            <a:ext cx="4160520" cy="566928"/>
          </a:xfrm>
          <a:prstGeom prst="rect">
            <a:avLst/>
          </a:prstGeom>
          <a:solidFill>
            <a:srgbClr val="F5F5F5"/>
          </a:solidFill>
          <a:ln w="12700">
            <a:solidFill>
              <a:srgbClr val="DDDDDD"/>
            </a:solidFill>
            <a:prstDash val="solid"/>
          </a:ln>
        </p:spPr>
      </p:sp>
      <p:sp>
        <p:nvSpPr>
          <p:cNvPr id="26" name="Shape 23"/>
          <p:cNvSpPr/>
          <p:nvPr/>
        </p:nvSpPr>
        <p:spPr>
          <a:xfrm>
            <a:off x="4617720" y="2176272"/>
            <a:ext cx="54864" cy="566928"/>
          </a:xfrm>
          <a:prstGeom prst="rect">
            <a:avLst/>
          </a:prstGeom>
          <a:solidFill>
            <a:srgbClr val="B71C1C"/>
          </a:solidFill>
          <a:ln w="12700">
            <a:solidFill>
              <a:srgbClr val="B71C1C"/>
            </a:solidFill>
            <a:prstDash val="solid"/>
          </a:ln>
        </p:spPr>
      </p:sp>
      <p:sp>
        <p:nvSpPr>
          <p:cNvPr id="27" name="Text 24"/>
          <p:cNvSpPr/>
          <p:nvPr/>
        </p:nvSpPr>
        <p:spPr>
          <a:xfrm>
            <a:off x="4773168" y="2212848"/>
            <a:ext cx="3886200" cy="228600"/>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Regulatory Fines: </a:t>
            </a:r>
            <a:endParaRPr lang="en-US" sz="1200" dirty="0"/>
          </a:p>
        </p:txBody>
      </p:sp>
      <p:sp>
        <p:nvSpPr>
          <p:cNvPr id="28" name="Text 25"/>
          <p:cNvSpPr/>
          <p:nvPr/>
        </p:nvSpPr>
        <p:spPr>
          <a:xfrm>
            <a:off x="4773168" y="2450592"/>
            <a:ext cx="3886200" cy="25603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HIPAA violations (healthcare) can cost up to $1.9M per violation. GDPR (EU) fines reach 4% of global annual revenue. PCI-DSS failures trigger fines from payment card networks.</a:t>
            </a:r>
            <a:endParaRPr lang="en-US" sz="1050" dirty="0"/>
          </a:p>
        </p:txBody>
      </p:sp>
      <p:sp>
        <p:nvSpPr>
          <p:cNvPr id="29" name="Shape 26"/>
          <p:cNvSpPr/>
          <p:nvPr/>
        </p:nvSpPr>
        <p:spPr>
          <a:xfrm>
            <a:off x="4617720" y="2816352"/>
            <a:ext cx="4160520" cy="566928"/>
          </a:xfrm>
          <a:prstGeom prst="rect">
            <a:avLst/>
          </a:prstGeom>
          <a:solidFill>
            <a:srgbClr val="FFFFFF"/>
          </a:solidFill>
          <a:ln w="12700">
            <a:solidFill>
              <a:srgbClr val="DDDDDD"/>
            </a:solidFill>
            <a:prstDash val="solid"/>
          </a:ln>
        </p:spPr>
      </p:sp>
      <p:sp>
        <p:nvSpPr>
          <p:cNvPr id="30" name="Shape 27"/>
          <p:cNvSpPr/>
          <p:nvPr/>
        </p:nvSpPr>
        <p:spPr>
          <a:xfrm>
            <a:off x="4617720" y="2816352"/>
            <a:ext cx="54864" cy="566928"/>
          </a:xfrm>
          <a:prstGeom prst="rect">
            <a:avLst/>
          </a:prstGeom>
          <a:solidFill>
            <a:srgbClr val="B71C1C"/>
          </a:solidFill>
          <a:ln w="12700">
            <a:solidFill>
              <a:srgbClr val="B71C1C"/>
            </a:solidFill>
            <a:prstDash val="solid"/>
          </a:ln>
        </p:spPr>
      </p:sp>
      <p:sp>
        <p:nvSpPr>
          <p:cNvPr id="31" name="Text 28"/>
          <p:cNvSpPr/>
          <p:nvPr/>
        </p:nvSpPr>
        <p:spPr>
          <a:xfrm>
            <a:off x="4773168" y="2852928"/>
            <a:ext cx="3886200" cy="228600"/>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Identity Theft &amp; Fraud: </a:t>
            </a:r>
            <a:endParaRPr lang="en-US" sz="1200" dirty="0"/>
          </a:p>
        </p:txBody>
      </p:sp>
      <p:sp>
        <p:nvSpPr>
          <p:cNvPr id="32" name="Text 29"/>
          <p:cNvSpPr/>
          <p:nvPr/>
        </p:nvSpPr>
        <p:spPr>
          <a:xfrm>
            <a:off x="4773168" y="3090672"/>
            <a:ext cx="3886200" cy="25603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Exposed customer data enables attackers to open fraudulent accounts, make unauthorized purchases, and drain bank accounts — leaving the organization legally liable.</a:t>
            </a:r>
            <a:endParaRPr lang="en-US" sz="1050" dirty="0"/>
          </a:p>
        </p:txBody>
      </p:sp>
      <p:sp>
        <p:nvSpPr>
          <p:cNvPr id="33" name="Shape 30"/>
          <p:cNvSpPr/>
          <p:nvPr/>
        </p:nvSpPr>
        <p:spPr>
          <a:xfrm>
            <a:off x="4617720" y="3456432"/>
            <a:ext cx="4160520" cy="566928"/>
          </a:xfrm>
          <a:prstGeom prst="rect">
            <a:avLst/>
          </a:prstGeom>
          <a:solidFill>
            <a:srgbClr val="F5F5F5"/>
          </a:solidFill>
          <a:ln w="12700">
            <a:solidFill>
              <a:srgbClr val="DDDDDD"/>
            </a:solidFill>
            <a:prstDash val="solid"/>
          </a:ln>
        </p:spPr>
      </p:sp>
      <p:sp>
        <p:nvSpPr>
          <p:cNvPr id="34" name="Shape 31"/>
          <p:cNvSpPr/>
          <p:nvPr/>
        </p:nvSpPr>
        <p:spPr>
          <a:xfrm>
            <a:off x="4617720" y="3456432"/>
            <a:ext cx="54864" cy="566928"/>
          </a:xfrm>
          <a:prstGeom prst="rect">
            <a:avLst/>
          </a:prstGeom>
          <a:solidFill>
            <a:srgbClr val="B71C1C"/>
          </a:solidFill>
          <a:ln w="12700">
            <a:solidFill>
              <a:srgbClr val="B71C1C"/>
            </a:solidFill>
            <a:prstDash val="solid"/>
          </a:ln>
        </p:spPr>
      </p:sp>
      <p:sp>
        <p:nvSpPr>
          <p:cNvPr id="35" name="Text 32"/>
          <p:cNvSpPr/>
          <p:nvPr/>
        </p:nvSpPr>
        <p:spPr>
          <a:xfrm>
            <a:off x="4773168" y="3493008"/>
            <a:ext cx="3886200" cy="228600"/>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Competitive Damage: </a:t>
            </a:r>
            <a:endParaRPr lang="en-US" sz="1200" dirty="0"/>
          </a:p>
        </p:txBody>
      </p:sp>
      <p:sp>
        <p:nvSpPr>
          <p:cNvPr id="36" name="Text 33"/>
          <p:cNvSpPr/>
          <p:nvPr/>
        </p:nvSpPr>
        <p:spPr>
          <a:xfrm>
            <a:off x="4773168" y="3730752"/>
            <a:ext cx="3886200" cy="25603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Leaked product plans, pricing strategies, or client lists can hand competitors a direct advantage that took years of investment to build.</a:t>
            </a:r>
            <a:endParaRPr lang="en-US" sz="1050" dirty="0"/>
          </a:p>
        </p:txBody>
      </p:sp>
      <p:sp>
        <p:nvSpPr>
          <p:cNvPr id="37" name="Shape 34"/>
          <p:cNvSpPr/>
          <p:nvPr/>
        </p:nvSpPr>
        <p:spPr>
          <a:xfrm>
            <a:off x="4617720" y="4096512"/>
            <a:ext cx="4160520" cy="566928"/>
          </a:xfrm>
          <a:prstGeom prst="rect">
            <a:avLst/>
          </a:prstGeom>
          <a:solidFill>
            <a:srgbClr val="FFFFFF"/>
          </a:solidFill>
          <a:ln w="12700">
            <a:solidFill>
              <a:srgbClr val="DDDDDD"/>
            </a:solidFill>
            <a:prstDash val="solid"/>
          </a:ln>
        </p:spPr>
      </p:sp>
      <p:sp>
        <p:nvSpPr>
          <p:cNvPr id="38" name="Shape 35"/>
          <p:cNvSpPr/>
          <p:nvPr/>
        </p:nvSpPr>
        <p:spPr>
          <a:xfrm>
            <a:off x="4617720" y="4096512"/>
            <a:ext cx="54864" cy="566928"/>
          </a:xfrm>
          <a:prstGeom prst="rect">
            <a:avLst/>
          </a:prstGeom>
          <a:solidFill>
            <a:srgbClr val="B71C1C"/>
          </a:solidFill>
          <a:ln w="12700">
            <a:solidFill>
              <a:srgbClr val="B71C1C"/>
            </a:solidFill>
            <a:prstDash val="solid"/>
          </a:ln>
        </p:spPr>
      </p:sp>
      <p:sp>
        <p:nvSpPr>
          <p:cNvPr id="39" name="Text 36"/>
          <p:cNvSpPr/>
          <p:nvPr/>
        </p:nvSpPr>
        <p:spPr>
          <a:xfrm>
            <a:off x="4773168" y="4133088"/>
            <a:ext cx="3886200" cy="228600"/>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Loss of Customer Trust: </a:t>
            </a:r>
            <a:endParaRPr lang="en-US" sz="1200" dirty="0"/>
          </a:p>
        </p:txBody>
      </p:sp>
      <p:sp>
        <p:nvSpPr>
          <p:cNvPr id="40" name="Text 37"/>
          <p:cNvSpPr/>
          <p:nvPr/>
        </p:nvSpPr>
        <p:spPr>
          <a:xfrm>
            <a:off x="4773168" y="4370832"/>
            <a:ext cx="3886200" cy="25603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Once customers learn their data was exposed, many will leave permanently. Studies show 65% of consumers lose trust in a brand after a breach — and many never return.</a:t>
            </a:r>
            <a:endParaRPr lang="en-US" sz="1050" dirty="0"/>
          </a:p>
        </p:txBody>
      </p:sp>
      <p:sp>
        <p:nvSpPr>
          <p:cNvPr id="41" name="Shape 38"/>
          <p:cNvSpPr/>
          <p:nvPr/>
        </p:nvSpPr>
        <p:spPr>
          <a:xfrm>
            <a:off x="0" y="4800600"/>
            <a:ext cx="9144000" cy="342900"/>
          </a:xfrm>
          <a:prstGeom prst="rect">
            <a:avLst/>
          </a:prstGeom>
          <a:solidFill>
            <a:srgbClr val="680001"/>
          </a:solidFill>
          <a:ln w="12700">
            <a:solidFill>
              <a:srgbClr val="680001"/>
            </a:solidFill>
            <a:prstDash val="solid"/>
          </a:ln>
        </p:spPr>
      </p:sp>
      <p:sp>
        <p:nvSpPr>
          <p:cNvPr id="42" name="Text 39"/>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43" name="Text 40"/>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Integrity — Trusting That Data Is Accurate and Unaltered</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Shape 2"/>
          <p:cNvSpPr/>
          <p:nvPr/>
        </p:nvSpPr>
        <p:spPr>
          <a:xfrm>
            <a:off x="365760" y="1078992"/>
            <a:ext cx="8412480" cy="621792"/>
          </a:xfrm>
          <a:prstGeom prst="rect">
            <a:avLst/>
          </a:prstGeom>
          <a:solidFill>
            <a:srgbClr val="680001"/>
          </a:solidFill>
          <a:ln w="12700">
            <a:solidFill>
              <a:srgbClr val="680001"/>
            </a:solidFill>
            <a:prstDash val="solid"/>
          </a:ln>
        </p:spPr>
      </p:sp>
      <p:sp>
        <p:nvSpPr>
          <p:cNvPr id="6" name="Text 3"/>
          <p:cNvSpPr/>
          <p:nvPr/>
        </p:nvSpPr>
        <p:spPr>
          <a:xfrm>
            <a:off x="512064" y="1078992"/>
            <a:ext cx="8092440" cy="621792"/>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Integrity</a:t>
            </a:r>
            <a:pPr indent="0" marL="0">
              <a:buNone/>
            </a:pPr>
            <a:r>
              <a:rPr lang="en-US" sz="1400" dirty="0">
                <a:solidFill>
                  <a:srgbClr val="FFFFFF"/>
                </a:solidFill>
                <a:latin typeface="Calibri" pitchFamily="34" charset="0"/>
                <a:ea typeface="Calibri" pitchFamily="34" charset="-122"/>
                <a:cs typeface="Calibri" pitchFamily="34" charset="-120"/>
              </a:rPr>
              <a:t> means that information is accurate, complete, and has not been changed — by an attacker, a system error, or an unauthorized user.</a:t>
            </a:r>
            <a:endParaRPr lang="en-US" sz="1800" dirty="0"/>
          </a:p>
        </p:txBody>
      </p:sp>
      <p:sp>
        <p:nvSpPr>
          <p:cNvPr id="7" name="Text 4"/>
          <p:cNvSpPr/>
          <p:nvPr/>
        </p:nvSpPr>
        <p:spPr>
          <a:xfrm>
            <a:off x="411480" y="1792224"/>
            <a:ext cx="8229600" cy="347472"/>
          </a:xfrm>
          <a:prstGeom prst="rect">
            <a:avLst/>
          </a:prstGeom>
          <a:noFill/>
          <a:ln/>
        </p:spPr>
        <p:txBody>
          <a:bodyPr wrap="square" rtlCol="0" anchor="ctr"/>
          <a:lstStyle/>
          <a:p>
            <a:pPr indent="0" marL="0">
              <a:buNone/>
            </a:pPr>
            <a:r>
              <a:rPr lang="en-US" sz="1400" b="1" dirty="0">
                <a:solidFill>
                  <a:srgbClr val="680001"/>
                </a:solidFill>
                <a:latin typeface="Calibri" pitchFamily="34" charset="0"/>
                <a:ea typeface="Calibri" pitchFamily="34" charset="-122"/>
                <a:cs typeface="Calibri" pitchFamily="34" charset="-120"/>
              </a:rPr>
              <a:t>Why Integrity Matters — Real Business Scenarios</a:t>
            </a:r>
            <a:endParaRPr lang="en-US" sz="1400" dirty="0"/>
          </a:p>
        </p:txBody>
      </p:sp>
      <p:sp>
        <p:nvSpPr>
          <p:cNvPr id="8" name="Shape 5"/>
          <p:cNvSpPr/>
          <p:nvPr/>
        </p:nvSpPr>
        <p:spPr>
          <a:xfrm>
            <a:off x="365760" y="2212848"/>
            <a:ext cx="4206240" cy="118872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Shape 6"/>
          <p:cNvSpPr/>
          <p:nvPr/>
        </p:nvSpPr>
        <p:spPr>
          <a:xfrm>
            <a:off x="365760" y="2212848"/>
            <a:ext cx="4206240" cy="54864"/>
          </a:xfrm>
          <a:prstGeom prst="rect">
            <a:avLst/>
          </a:prstGeom>
          <a:solidFill>
            <a:srgbClr val="680001"/>
          </a:solidFill>
          <a:ln w="12700">
            <a:solidFill>
              <a:srgbClr val="680001"/>
            </a:solidFill>
            <a:prstDash val="solid"/>
          </a:ln>
        </p:spPr>
      </p:sp>
      <p:sp>
        <p:nvSpPr>
          <p:cNvPr id="10" name="Text 7"/>
          <p:cNvSpPr/>
          <p:nvPr/>
        </p:nvSpPr>
        <p:spPr>
          <a:xfrm>
            <a:off x="475488" y="2304288"/>
            <a:ext cx="3977640" cy="27432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Healthcare — Medication Records</a:t>
            </a:r>
            <a:endParaRPr lang="en-US" sz="1200" dirty="0"/>
          </a:p>
        </p:txBody>
      </p:sp>
      <p:sp>
        <p:nvSpPr>
          <p:cNvPr id="11" name="Text 8"/>
          <p:cNvSpPr/>
          <p:nvPr/>
        </p:nvSpPr>
        <p:spPr>
          <a:xfrm>
            <a:off x="475488" y="2596896"/>
            <a:ext cx="3977640" cy="512064"/>
          </a:xfrm>
          <a:prstGeom prst="rect">
            <a:avLst/>
          </a:prstGeom>
          <a:noFill/>
          <a:ln/>
        </p:spPr>
        <p:txBody>
          <a:bodyPr wrap="square" rtlCol="0" anchor="ctr"/>
          <a:lstStyle/>
          <a:p>
            <a:pPr indent="0" marL="0">
              <a:buNone/>
            </a:pPr>
            <a:r>
              <a:rPr lang="en-US" sz="1050" b="1" dirty="0">
                <a:solidFill>
                  <a:srgbClr val="1A6A1A"/>
                </a:solidFill>
                <a:latin typeface="Calibri" pitchFamily="34" charset="0"/>
                <a:ea typeface="Calibri" pitchFamily="34" charset="-122"/>
                <a:cs typeface="Calibri" pitchFamily="34" charset="-120"/>
              </a:rPr>
              <a:t>Normal: </a:t>
            </a:r>
            <a:pPr indent="0" marL="0">
              <a:buNone/>
            </a:pPr>
            <a:r>
              <a:rPr lang="en-US" sz="1050" dirty="0">
                <a:solidFill>
                  <a:srgbClr val="333333"/>
                </a:solidFill>
                <a:latin typeface="Calibri" pitchFamily="34" charset="0"/>
                <a:ea typeface="Calibri" pitchFamily="34" charset="-122"/>
                <a:cs typeface="Calibri" pitchFamily="34" charset="-120"/>
              </a:rPr>
              <a:t>A physician prescribes 10mg of a medication. The EHR records this accurately and the pharmacy dispenses the correct dose.
</a:t>
            </a:r>
            <a:pPr indent="0" marL="0">
              <a:buNone/>
            </a:pPr>
            <a:r>
              <a:rPr lang="en-US" sz="1050" b="1" dirty="0">
                <a:solidFill>
                  <a:srgbClr val="B71C1C"/>
                </a:solidFill>
                <a:latin typeface="Calibri" pitchFamily="34" charset="0"/>
                <a:ea typeface="Calibri" pitchFamily="34" charset="-122"/>
                <a:cs typeface="Calibri" pitchFamily="34" charset="-120"/>
              </a:rPr>
              <a:t>Threat: </a:t>
            </a:r>
            <a:pPr indent="0" marL="0">
              <a:buNone/>
            </a:pPr>
            <a:r>
              <a:rPr lang="en-US" sz="1050" dirty="0">
                <a:solidFill>
                  <a:srgbClr val="333333"/>
                </a:solidFill>
                <a:latin typeface="Calibri" pitchFamily="34" charset="0"/>
                <a:ea typeface="Calibri" pitchFamily="34" charset="-122"/>
                <a:cs typeface="Calibri" pitchFamily="34" charset="-120"/>
              </a:rPr>
              <a:t>An attacker or system error changes the record to 100mg. The pharmacy fills the incorrect order.</a:t>
            </a:r>
            <a:endParaRPr lang="en-US" sz="1050" dirty="0"/>
          </a:p>
        </p:txBody>
      </p:sp>
      <p:sp>
        <p:nvSpPr>
          <p:cNvPr id="12" name="Text 9"/>
          <p:cNvSpPr/>
          <p:nvPr/>
        </p:nvSpPr>
        <p:spPr>
          <a:xfrm>
            <a:off x="475488" y="3127248"/>
            <a:ext cx="3977640" cy="228600"/>
          </a:xfrm>
          <a:prstGeom prst="rect">
            <a:avLst/>
          </a:prstGeom>
          <a:noFill/>
          <a:ln/>
        </p:spPr>
        <p:txBody>
          <a:bodyPr wrap="square" rtlCol="0" anchor="ctr"/>
          <a:lstStyle/>
          <a:p>
            <a:pPr indent="0" marL="0">
              <a:buNone/>
            </a:pPr>
            <a:r>
              <a:rPr lang="en-US" sz="1000" dirty="0">
                <a:solidFill>
                  <a:srgbClr val="B71C1C"/>
                </a:solidFill>
                <a:latin typeface="Calibri" pitchFamily="34" charset="0"/>
                <a:ea typeface="Calibri" pitchFamily="34" charset="-122"/>
                <a:cs typeface="Calibri" pitchFamily="34" charset="-120"/>
              </a:rPr>
              <a:t>⚠ </a:t>
            </a:r>
            <a:pPr indent="0" marL="0">
              <a:buNone/>
            </a:pPr>
            <a:r>
              <a:rPr lang="en-US" sz="1000" i="1" dirty="0">
                <a:solidFill>
                  <a:srgbClr val="B71C1C"/>
                </a:solidFill>
                <a:latin typeface="Calibri" pitchFamily="34" charset="0"/>
                <a:ea typeface="Calibri" pitchFamily="34" charset="-122"/>
                <a:cs typeface="Calibri" pitchFamily="34" charset="-120"/>
              </a:rPr>
              <a:t>The patient receives a dangerous overdose. Legal liability, patient harm, and regulatory investigation follow immediately.</a:t>
            </a:r>
            <a:endParaRPr lang="en-US" sz="1000" dirty="0"/>
          </a:p>
        </p:txBody>
      </p:sp>
      <p:sp>
        <p:nvSpPr>
          <p:cNvPr id="13" name="Shape 10"/>
          <p:cNvSpPr/>
          <p:nvPr/>
        </p:nvSpPr>
        <p:spPr>
          <a:xfrm>
            <a:off x="4800600" y="2212848"/>
            <a:ext cx="4206240" cy="118872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4" name="Shape 11"/>
          <p:cNvSpPr/>
          <p:nvPr/>
        </p:nvSpPr>
        <p:spPr>
          <a:xfrm>
            <a:off x="4800600" y="2212848"/>
            <a:ext cx="4206240" cy="54864"/>
          </a:xfrm>
          <a:prstGeom prst="rect">
            <a:avLst/>
          </a:prstGeom>
          <a:solidFill>
            <a:srgbClr val="680001"/>
          </a:solidFill>
          <a:ln w="12700">
            <a:solidFill>
              <a:srgbClr val="680001"/>
            </a:solidFill>
            <a:prstDash val="solid"/>
          </a:ln>
        </p:spPr>
      </p:sp>
      <p:sp>
        <p:nvSpPr>
          <p:cNvPr id="15" name="Text 12"/>
          <p:cNvSpPr/>
          <p:nvPr/>
        </p:nvSpPr>
        <p:spPr>
          <a:xfrm>
            <a:off x="4910328" y="2304288"/>
            <a:ext cx="3977640" cy="27432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Finance — Transaction Records</a:t>
            </a:r>
            <a:endParaRPr lang="en-US" sz="1200" dirty="0"/>
          </a:p>
        </p:txBody>
      </p:sp>
      <p:sp>
        <p:nvSpPr>
          <p:cNvPr id="16" name="Text 13"/>
          <p:cNvSpPr/>
          <p:nvPr/>
        </p:nvSpPr>
        <p:spPr>
          <a:xfrm>
            <a:off x="4910328" y="2596896"/>
            <a:ext cx="3977640" cy="512064"/>
          </a:xfrm>
          <a:prstGeom prst="rect">
            <a:avLst/>
          </a:prstGeom>
          <a:noFill/>
          <a:ln/>
        </p:spPr>
        <p:txBody>
          <a:bodyPr wrap="square" rtlCol="0" anchor="ctr"/>
          <a:lstStyle/>
          <a:p>
            <a:pPr indent="0" marL="0">
              <a:buNone/>
            </a:pPr>
            <a:r>
              <a:rPr lang="en-US" sz="1050" b="1" dirty="0">
                <a:solidFill>
                  <a:srgbClr val="1A6A1A"/>
                </a:solidFill>
                <a:latin typeface="Calibri" pitchFamily="34" charset="0"/>
                <a:ea typeface="Calibri" pitchFamily="34" charset="-122"/>
                <a:cs typeface="Calibri" pitchFamily="34" charset="-120"/>
              </a:rPr>
              <a:t>Normal: </a:t>
            </a:r>
            <a:pPr indent="0" marL="0">
              <a:buNone/>
            </a:pPr>
            <a:r>
              <a:rPr lang="en-US" sz="1050" dirty="0">
                <a:solidFill>
                  <a:srgbClr val="333333"/>
                </a:solidFill>
                <a:latin typeface="Calibri" pitchFamily="34" charset="0"/>
                <a:ea typeface="Calibri" pitchFamily="34" charset="-122"/>
                <a:cs typeface="Calibri" pitchFamily="34" charset="-120"/>
              </a:rPr>
              <a:t>An accounts payable system records that $50,000 was paid to Vendor A for services rendered.
</a:t>
            </a:r>
            <a:pPr indent="0" marL="0">
              <a:buNone/>
            </a:pPr>
            <a:r>
              <a:rPr lang="en-US" sz="1050" b="1" dirty="0">
                <a:solidFill>
                  <a:srgbClr val="B71C1C"/>
                </a:solidFill>
                <a:latin typeface="Calibri" pitchFamily="34" charset="0"/>
                <a:ea typeface="Calibri" pitchFamily="34" charset="-122"/>
                <a:cs typeface="Calibri" pitchFamily="34" charset="-120"/>
              </a:rPr>
              <a:t>Threat: </a:t>
            </a:r>
            <a:pPr indent="0" marL="0">
              <a:buNone/>
            </a:pPr>
            <a:r>
              <a:rPr lang="en-US" sz="1050" dirty="0">
                <a:solidFill>
                  <a:srgbClr val="333333"/>
                </a:solidFill>
                <a:latin typeface="Calibri" pitchFamily="34" charset="0"/>
                <a:ea typeface="Calibri" pitchFamily="34" charset="-122"/>
                <a:cs typeface="Calibri" pitchFamily="34" charset="-120"/>
              </a:rPr>
              <a:t>An insider threat manipulates the payment records to redirect funds to a fraudulent account.</a:t>
            </a:r>
            <a:endParaRPr lang="en-US" sz="1050" dirty="0"/>
          </a:p>
        </p:txBody>
      </p:sp>
      <p:sp>
        <p:nvSpPr>
          <p:cNvPr id="17" name="Text 14"/>
          <p:cNvSpPr/>
          <p:nvPr/>
        </p:nvSpPr>
        <p:spPr>
          <a:xfrm>
            <a:off x="4910328" y="3127248"/>
            <a:ext cx="3977640" cy="228600"/>
          </a:xfrm>
          <a:prstGeom prst="rect">
            <a:avLst/>
          </a:prstGeom>
          <a:noFill/>
          <a:ln/>
        </p:spPr>
        <p:txBody>
          <a:bodyPr wrap="square" rtlCol="0" anchor="ctr"/>
          <a:lstStyle/>
          <a:p>
            <a:pPr indent="0" marL="0">
              <a:buNone/>
            </a:pPr>
            <a:r>
              <a:rPr lang="en-US" sz="1000" dirty="0">
                <a:solidFill>
                  <a:srgbClr val="B71C1C"/>
                </a:solidFill>
                <a:latin typeface="Calibri" pitchFamily="34" charset="0"/>
                <a:ea typeface="Calibri" pitchFamily="34" charset="-122"/>
                <a:cs typeface="Calibri" pitchFamily="34" charset="-120"/>
              </a:rPr>
              <a:t>⚠ </a:t>
            </a:r>
            <a:pPr indent="0" marL="0">
              <a:buNone/>
            </a:pPr>
            <a:r>
              <a:rPr lang="en-US" sz="1000" i="1" dirty="0">
                <a:solidFill>
                  <a:srgbClr val="B71C1C"/>
                </a:solidFill>
                <a:latin typeface="Calibri" pitchFamily="34" charset="0"/>
                <a:ea typeface="Calibri" pitchFamily="34" charset="-122"/>
                <a:cs typeface="Calibri" pitchFamily="34" charset="-120"/>
              </a:rPr>
              <a:t>Money is stolen and records show the payment as legitimate. The fraud may go undetected for months.</a:t>
            </a:r>
            <a:endParaRPr lang="en-US" sz="1000" dirty="0"/>
          </a:p>
        </p:txBody>
      </p:sp>
      <p:sp>
        <p:nvSpPr>
          <p:cNvPr id="18" name="Shape 15"/>
          <p:cNvSpPr/>
          <p:nvPr/>
        </p:nvSpPr>
        <p:spPr>
          <a:xfrm>
            <a:off x="365760" y="3511296"/>
            <a:ext cx="4206240" cy="118872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9" name="Shape 16"/>
          <p:cNvSpPr/>
          <p:nvPr/>
        </p:nvSpPr>
        <p:spPr>
          <a:xfrm>
            <a:off x="365760" y="3511296"/>
            <a:ext cx="4206240" cy="54864"/>
          </a:xfrm>
          <a:prstGeom prst="rect">
            <a:avLst/>
          </a:prstGeom>
          <a:solidFill>
            <a:srgbClr val="680001"/>
          </a:solidFill>
          <a:ln w="12700">
            <a:solidFill>
              <a:srgbClr val="680001"/>
            </a:solidFill>
            <a:prstDash val="solid"/>
          </a:ln>
        </p:spPr>
      </p:sp>
      <p:sp>
        <p:nvSpPr>
          <p:cNvPr id="20" name="Text 17"/>
          <p:cNvSpPr/>
          <p:nvPr/>
        </p:nvSpPr>
        <p:spPr>
          <a:xfrm>
            <a:off x="475488" y="3602736"/>
            <a:ext cx="3977640" cy="27432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Education — Grade Records</a:t>
            </a:r>
            <a:endParaRPr lang="en-US" sz="1200" dirty="0"/>
          </a:p>
        </p:txBody>
      </p:sp>
      <p:sp>
        <p:nvSpPr>
          <p:cNvPr id="21" name="Text 18"/>
          <p:cNvSpPr/>
          <p:nvPr/>
        </p:nvSpPr>
        <p:spPr>
          <a:xfrm>
            <a:off x="475488" y="3895344"/>
            <a:ext cx="3977640" cy="512064"/>
          </a:xfrm>
          <a:prstGeom prst="rect">
            <a:avLst/>
          </a:prstGeom>
          <a:noFill/>
          <a:ln/>
        </p:spPr>
        <p:txBody>
          <a:bodyPr wrap="square" rtlCol="0" anchor="ctr"/>
          <a:lstStyle/>
          <a:p>
            <a:pPr indent="0" marL="0">
              <a:buNone/>
            </a:pPr>
            <a:r>
              <a:rPr lang="en-US" sz="1050" b="1" dirty="0">
                <a:solidFill>
                  <a:srgbClr val="1A6A1A"/>
                </a:solidFill>
                <a:latin typeface="Calibri" pitchFamily="34" charset="0"/>
                <a:ea typeface="Calibri" pitchFamily="34" charset="-122"/>
                <a:cs typeface="Calibri" pitchFamily="34" charset="-120"/>
              </a:rPr>
              <a:t>Normal: </a:t>
            </a:r>
            <a:pPr indent="0" marL="0">
              <a:buNone/>
            </a:pPr>
            <a:r>
              <a:rPr lang="en-US" sz="1050" dirty="0">
                <a:solidFill>
                  <a:srgbClr val="333333"/>
                </a:solidFill>
                <a:latin typeface="Calibri" pitchFamily="34" charset="0"/>
                <a:ea typeface="Calibri" pitchFamily="34" charset="-122"/>
                <a:cs typeface="Calibri" pitchFamily="34" charset="-120"/>
              </a:rPr>
              <a:t>A student earns a B in a course. The LMS and transcript reflect that grade accurately.
</a:t>
            </a:r>
            <a:pPr indent="0" marL="0">
              <a:buNone/>
            </a:pPr>
            <a:r>
              <a:rPr lang="en-US" sz="1050" b="1" dirty="0">
                <a:solidFill>
                  <a:srgbClr val="B71C1C"/>
                </a:solidFill>
                <a:latin typeface="Calibri" pitchFamily="34" charset="0"/>
                <a:ea typeface="Calibri" pitchFamily="34" charset="-122"/>
                <a:cs typeface="Calibri" pitchFamily="34" charset="-120"/>
              </a:rPr>
              <a:t>Threat: </a:t>
            </a:r>
            <a:pPr indent="0" marL="0">
              <a:buNone/>
            </a:pPr>
            <a:r>
              <a:rPr lang="en-US" sz="1050" dirty="0">
                <a:solidFill>
                  <a:srgbClr val="333333"/>
                </a:solidFill>
                <a:latin typeface="Calibri" pitchFamily="34" charset="0"/>
                <a:ea typeface="Calibri" pitchFamily="34" charset="-122"/>
                <a:cs typeface="Calibri" pitchFamily="34" charset="-120"/>
              </a:rPr>
              <a:t>A student gains unauthorized access and alters their transcript to show an A.</a:t>
            </a:r>
            <a:endParaRPr lang="en-US" sz="1050" dirty="0"/>
          </a:p>
        </p:txBody>
      </p:sp>
      <p:sp>
        <p:nvSpPr>
          <p:cNvPr id="22" name="Text 19"/>
          <p:cNvSpPr/>
          <p:nvPr/>
        </p:nvSpPr>
        <p:spPr>
          <a:xfrm>
            <a:off x="475488" y="4425696"/>
            <a:ext cx="3977640" cy="228600"/>
          </a:xfrm>
          <a:prstGeom prst="rect">
            <a:avLst/>
          </a:prstGeom>
          <a:noFill/>
          <a:ln/>
        </p:spPr>
        <p:txBody>
          <a:bodyPr wrap="square" rtlCol="0" anchor="ctr"/>
          <a:lstStyle/>
          <a:p>
            <a:pPr indent="0" marL="0">
              <a:buNone/>
            </a:pPr>
            <a:r>
              <a:rPr lang="en-US" sz="1000" dirty="0">
                <a:solidFill>
                  <a:srgbClr val="B71C1C"/>
                </a:solidFill>
                <a:latin typeface="Calibri" pitchFamily="34" charset="0"/>
                <a:ea typeface="Calibri" pitchFamily="34" charset="-122"/>
                <a:cs typeface="Calibri" pitchFamily="34" charset="-120"/>
              </a:rPr>
              <a:t>⚠ </a:t>
            </a:r>
            <a:pPr indent="0" marL="0">
              <a:buNone/>
            </a:pPr>
            <a:r>
              <a:rPr lang="en-US" sz="1000" i="1" dirty="0">
                <a:solidFill>
                  <a:srgbClr val="B71C1C"/>
                </a:solidFill>
                <a:latin typeface="Calibri" pitchFamily="34" charset="0"/>
                <a:ea typeface="Calibri" pitchFamily="34" charset="-122"/>
                <a:cs typeface="Calibri" pitchFamily="34" charset="-120"/>
              </a:rPr>
              <a:t>The falsified record is submitted to graduate schools or employers. When discovered, the student faces expulsion and potential fraud charges.</a:t>
            </a:r>
            <a:endParaRPr lang="en-US" sz="1000" dirty="0"/>
          </a:p>
        </p:txBody>
      </p:sp>
      <p:sp>
        <p:nvSpPr>
          <p:cNvPr id="23" name="Shape 20"/>
          <p:cNvSpPr/>
          <p:nvPr/>
        </p:nvSpPr>
        <p:spPr>
          <a:xfrm>
            <a:off x="4800600" y="3511296"/>
            <a:ext cx="4206240" cy="1188720"/>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24" name="Shape 21"/>
          <p:cNvSpPr/>
          <p:nvPr/>
        </p:nvSpPr>
        <p:spPr>
          <a:xfrm>
            <a:off x="4800600" y="3511296"/>
            <a:ext cx="4206240" cy="54864"/>
          </a:xfrm>
          <a:prstGeom prst="rect">
            <a:avLst/>
          </a:prstGeom>
          <a:solidFill>
            <a:srgbClr val="680001"/>
          </a:solidFill>
          <a:ln w="12700">
            <a:solidFill>
              <a:srgbClr val="680001"/>
            </a:solidFill>
            <a:prstDash val="solid"/>
          </a:ln>
        </p:spPr>
      </p:sp>
      <p:sp>
        <p:nvSpPr>
          <p:cNvPr id="25" name="Text 22"/>
          <p:cNvSpPr/>
          <p:nvPr/>
        </p:nvSpPr>
        <p:spPr>
          <a:xfrm>
            <a:off x="4910328" y="3602736"/>
            <a:ext cx="3977640" cy="27432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Supply Chain — Inventory Data</a:t>
            </a:r>
            <a:endParaRPr lang="en-US" sz="1200" dirty="0"/>
          </a:p>
        </p:txBody>
      </p:sp>
      <p:sp>
        <p:nvSpPr>
          <p:cNvPr id="26" name="Text 23"/>
          <p:cNvSpPr/>
          <p:nvPr/>
        </p:nvSpPr>
        <p:spPr>
          <a:xfrm>
            <a:off x="4910328" y="3895344"/>
            <a:ext cx="3977640" cy="512064"/>
          </a:xfrm>
          <a:prstGeom prst="rect">
            <a:avLst/>
          </a:prstGeom>
          <a:noFill/>
          <a:ln/>
        </p:spPr>
        <p:txBody>
          <a:bodyPr wrap="square" rtlCol="0" anchor="ctr"/>
          <a:lstStyle/>
          <a:p>
            <a:pPr indent="0" marL="0">
              <a:buNone/>
            </a:pPr>
            <a:r>
              <a:rPr lang="en-US" sz="1050" b="1" dirty="0">
                <a:solidFill>
                  <a:srgbClr val="1A6A1A"/>
                </a:solidFill>
                <a:latin typeface="Calibri" pitchFamily="34" charset="0"/>
                <a:ea typeface="Calibri" pitchFamily="34" charset="-122"/>
                <a:cs typeface="Calibri" pitchFamily="34" charset="-120"/>
              </a:rPr>
              <a:t>Normal: </a:t>
            </a:r>
            <a:pPr indent="0" marL="0">
              <a:buNone/>
            </a:pPr>
            <a:r>
              <a:rPr lang="en-US" sz="1050" dirty="0">
                <a:solidFill>
                  <a:srgbClr val="333333"/>
                </a:solidFill>
                <a:latin typeface="Calibri" pitchFamily="34" charset="0"/>
                <a:ea typeface="Calibri" pitchFamily="34" charset="-122"/>
                <a:cs typeface="Calibri" pitchFamily="34" charset="-120"/>
              </a:rPr>
              <a:t>A warehouse system shows 500 units of a product in stock. Orders are fulfilled accurately.
</a:t>
            </a:r>
            <a:pPr indent="0" marL="0">
              <a:buNone/>
            </a:pPr>
            <a:r>
              <a:rPr lang="en-US" sz="1050" b="1" dirty="0">
                <a:solidFill>
                  <a:srgbClr val="B71C1C"/>
                </a:solidFill>
                <a:latin typeface="Calibri" pitchFamily="34" charset="0"/>
                <a:ea typeface="Calibri" pitchFamily="34" charset="-122"/>
                <a:cs typeface="Calibri" pitchFamily="34" charset="-120"/>
              </a:rPr>
              <a:t>Threat: </a:t>
            </a:r>
            <a:pPr indent="0" marL="0">
              <a:buNone/>
            </a:pPr>
            <a:r>
              <a:rPr lang="en-US" sz="1050" dirty="0">
                <a:solidFill>
                  <a:srgbClr val="333333"/>
                </a:solidFill>
                <a:latin typeface="Calibri" pitchFamily="34" charset="0"/>
                <a:ea typeface="Calibri" pitchFamily="34" charset="-122"/>
                <a:cs typeface="Calibri" pitchFamily="34" charset="-120"/>
              </a:rPr>
              <a:t>A software bug or cyberattack corrupts inventory counts to show 5,000 units.</a:t>
            </a:r>
            <a:endParaRPr lang="en-US" sz="1050" dirty="0"/>
          </a:p>
        </p:txBody>
      </p:sp>
      <p:sp>
        <p:nvSpPr>
          <p:cNvPr id="27" name="Text 24"/>
          <p:cNvSpPr/>
          <p:nvPr/>
        </p:nvSpPr>
        <p:spPr>
          <a:xfrm>
            <a:off x="4910328" y="4425696"/>
            <a:ext cx="3977640" cy="228600"/>
          </a:xfrm>
          <a:prstGeom prst="rect">
            <a:avLst/>
          </a:prstGeom>
          <a:noFill/>
          <a:ln/>
        </p:spPr>
        <p:txBody>
          <a:bodyPr wrap="square" rtlCol="0" anchor="ctr"/>
          <a:lstStyle/>
          <a:p>
            <a:pPr indent="0" marL="0">
              <a:buNone/>
            </a:pPr>
            <a:r>
              <a:rPr lang="en-US" sz="1000" dirty="0">
                <a:solidFill>
                  <a:srgbClr val="B71C1C"/>
                </a:solidFill>
                <a:latin typeface="Calibri" pitchFamily="34" charset="0"/>
                <a:ea typeface="Calibri" pitchFamily="34" charset="-122"/>
                <a:cs typeface="Calibri" pitchFamily="34" charset="-120"/>
              </a:rPr>
              <a:t>⚠ </a:t>
            </a:r>
            <a:pPr indent="0" marL="0">
              <a:buNone/>
            </a:pPr>
            <a:r>
              <a:rPr lang="en-US" sz="1000" i="1" dirty="0">
                <a:solidFill>
                  <a:srgbClr val="B71C1C"/>
                </a:solidFill>
                <a:latin typeface="Calibri" pitchFamily="34" charset="0"/>
                <a:ea typeface="Calibri" pitchFamily="34" charset="-122"/>
                <a:cs typeface="Calibri" pitchFamily="34" charset="-120"/>
              </a:rPr>
              <a:t>The company oversells, cannot fulfill orders, loses customer contracts, and scrambles to explain a failure rooted in bad data.</a:t>
            </a:r>
            <a:endParaRPr lang="en-US" sz="1000" dirty="0"/>
          </a:p>
        </p:txBody>
      </p:sp>
      <p:sp>
        <p:nvSpPr>
          <p:cNvPr id="28" name="Shape 25"/>
          <p:cNvSpPr/>
          <p:nvPr/>
        </p:nvSpPr>
        <p:spPr>
          <a:xfrm>
            <a:off x="0" y="4800600"/>
            <a:ext cx="9144000" cy="342900"/>
          </a:xfrm>
          <a:prstGeom prst="rect">
            <a:avLst/>
          </a:prstGeom>
          <a:solidFill>
            <a:srgbClr val="680001"/>
          </a:solidFill>
          <a:ln w="12700">
            <a:solidFill>
              <a:srgbClr val="680001"/>
            </a:solidFill>
            <a:prstDash val="solid"/>
          </a:ln>
        </p:spPr>
      </p:sp>
      <p:sp>
        <p:nvSpPr>
          <p:cNvPr id="29" name="Text 26"/>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30" name="Text 27"/>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Availability — Systems Must Work When People Need Them</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Shape 2"/>
          <p:cNvSpPr/>
          <p:nvPr/>
        </p:nvSpPr>
        <p:spPr>
          <a:xfrm>
            <a:off x="365760" y="1078992"/>
            <a:ext cx="8412480" cy="621792"/>
          </a:xfrm>
          <a:prstGeom prst="rect">
            <a:avLst/>
          </a:prstGeom>
          <a:solidFill>
            <a:srgbClr val="680001"/>
          </a:solidFill>
          <a:ln w="12700">
            <a:solidFill>
              <a:srgbClr val="680001"/>
            </a:solidFill>
            <a:prstDash val="solid"/>
          </a:ln>
        </p:spPr>
      </p:sp>
      <p:sp>
        <p:nvSpPr>
          <p:cNvPr id="6" name="Text 3"/>
          <p:cNvSpPr/>
          <p:nvPr/>
        </p:nvSpPr>
        <p:spPr>
          <a:xfrm>
            <a:off x="512064" y="1078992"/>
            <a:ext cx="8092440" cy="621792"/>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Availability</a:t>
            </a:r>
            <a:pPr indent="0" marL="0">
              <a:buNone/>
            </a:pPr>
            <a:r>
              <a:rPr lang="en-US" sz="1400" dirty="0">
                <a:solidFill>
                  <a:srgbClr val="FFFFFF"/>
                </a:solidFill>
                <a:latin typeface="Calibri" pitchFamily="34" charset="0"/>
                <a:ea typeface="Calibri" pitchFamily="34" charset="-122"/>
                <a:cs typeface="Calibri" pitchFamily="34" charset="-120"/>
              </a:rPr>
              <a:t> means that authorized users can access systems, services, and data whenever they need to — without unexpected downtime, delays, or lockouts.</a:t>
            </a:r>
            <a:endParaRPr lang="en-US" sz="1800" dirty="0"/>
          </a:p>
        </p:txBody>
      </p:sp>
      <p:sp>
        <p:nvSpPr>
          <p:cNvPr id="7" name="Text 4"/>
          <p:cNvSpPr/>
          <p:nvPr/>
        </p:nvSpPr>
        <p:spPr>
          <a:xfrm>
            <a:off x="411480" y="1792224"/>
            <a:ext cx="8229600" cy="320040"/>
          </a:xfrm>
          <a:prstGeom prst="rect">
            <a:avLst/>
          </a:prstGeom>
          <a:noFill/>
          <a:ln/>
        </p:spPr>
        <p:txBody>
          <a:bodyPr wrap="square" rtlCol="0" anchor="ctr"/>
          <a:lstStyle/>
          <a:p>
            <a:pPr indent="0" marL="0">
              <a:buNone/>
            </a:pPr>
            <a:r>
              <a:rPr lang="en-US" sz="1400" b="1" dirty="0">
                <a:solidFill>
                  <a:srgbClr val="680001"/>
                </a:solidFill>
                <a:latin typeface="Calibri" pitchFamily="34" charset="0"/>
                <a:ea typeface="Calibri" pitchFamily="34" charset="-122"/>
                <a:cs typeface="Calibri" pitchFamily="34" charset="-120"/>
              </a:rPr>
              <a:t>What Threatens Availability?</a:t>
            </a:r>
            <a:endParaRPr lang="en-US" sz="1400" dirty="0"/>
          </a:p>
        </p:txBody>
      </p:sp>
      <p:sp>
        <p:nvSpPr>
          <p:cNvPr id="8" name="Shape 5"/>
          <p:cNvSpPr/>
          <p:nvPr/>
        </p:nvSpPr>
        <p:spPr>
          <a:xfrm>
            <a:off x="365760" y="2176272"/>
            <a:ext cx="8412480" cy="457200"/>
          </a:xfrm>
          <a:prstGeom prst="rect">
            <a:avLst/>
          </a:prstGeom>
          <a:solidFill>
            <a:srgbClr val="F5F5F5"/>
          </a:solidFill>
          <a:ln w="12700">
            <a:solidFill>
              <a:srgbClr val="DDDDDD"/>
            </a:solidFill>
            <a:prstDash val="solid"/>
          </a:ln>
        </p:spPr>
      </p:sp>
      <p:sp>
        <p:nvSpPr>
          <p:cNvPr id="9" name="Shape 6"/>
          <p:cNvSpPr/>
          <p:nvPr/>
        </p:nvSpPr>
        <p:spPr>
          <a:xfrm>
            <a:off x="365760" y="2176272"/>
            <a:ext cx="54864" cy="457200"/>
          </a:xfrm>
          <a:prstGeom prst="rect">
            <a:avLst/>
          </a:prstGeom>
          <a:solidFill>
            <a:srgbClr val="680001"/>
          </a:solidFill>
          <a:ln w="12700">
            <a:solidFill>
              <a:srgbClr val="680001"/>
            </a:solidFill>
            <a:prstDash val="solid"/>
          </a:ln>
        </p:spPr>
      </p:sp>
      <p:sp>
        <p:nvSpPr>
          <p:cNvPr id="10" name="Text 7"/>
          <p:cNvSpPr/>
          <p:nvPr/>
        </p:nvSpPr>
        <p:spPr>
          <a:xfrm>
            <a:off x="502920" y="2221992"/>
            <a:ext cx="1463040" cy="36576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Ransomware:  </a:t>
            </a:r>
            <a:endParaRPr lang="en-US" sz="1200" dirty="0"/>
          </a:p>
        </p:txBody>
      </p:sp>
      <p:sp>
        <p:nvSpPr>
          <p:cNvPr id="11" name="Text 8"/>
          <p:cNvSpPr/>
          <p:nvPr/>
        </p:nvSpPr>
        <p:spPr>
          <a:xfrm>
            <a:off x="1993392" y="2231136"/>
            <a:ext cx="6675120" cy="34747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Attackers encrypt an organization's files and demand payment to restore access. The Colonial Pipeline attack in 2021 shut down fuel supply to the U.S. East Coast for 6 days — an availability failure with national consequences.</a:t>
            </a:r>
            <a:endParaRPr lang="en-US" sz="1100" dirty="0"/>
          </a:p>
        </p:txBody>
      </p:sp>
      <p:sp>
        <p:nvSpPr>
          <p:cNvPr id="12" name="Shape 9"/>
          <p:cNvSpPr/>
          <p:nvPr/>
        </p:nvSpPr>
        <p:spPr>
          <a:xfrm>
            <a:off x="365760" y="2688336"/>
            <a:ext cx="8412480" cy="457200"/>
          </a:xfrm>
          <a:prstGeom prst="rect">
            <a:avLst/>
          </a:prstGeom>
          <a:solidFill>
            <a:srgbClr val="FFFFFF"/>
          </a:solidFill>
          <a:ln w="12700">
            <a:solidFill>
              <a:srgbClr val="DDDDDD"/>
            </a:solidFill>
            <a:prstDash val="solid"/>
          </a:ln>
        </p:spPr>
      </p:sp>
      <p:sp>
        <p:nvSpPr>
          <p:cNvPr id="13" name="Shape 10"/>
          <p:cNvSpPr/>
          <p:nvPr/>
        </p:nvSpPr>
        <p:spPr>
          <a:xfrm>
            <a:off x="365760" y="2688336"/>
            <a:ext cx="54864" cy="457200"/>
          </a:xfrm>
          <a:prstGeom prst="rect">
            <a:avLst/>
          </a:prstGeom>
          <a:solidFill>
            <a:srgbClr val="680001"/>
          </a:solidFill>
          <a:ln w="12700">
            <a:solidFill>
              <a:srgbClr val="680001"/>
            </a:solidFill>
            <a:prstDash val="solid"/>
          </a:ln>
        </p:spPr>
      </p:sp>
      <p:sp>
        <p:nvSpPr>
          <p:cNvPr id="14" name="Text 11"/>
          <p:cNvSpPr/>
          <p:nvPr/>
        </p:nvSpPr>
        <p:spPr>
          <a:xfrm>
            <a:off x="502920" y="2734056"/>
            <a:ext cx="1463040" cy="36576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Distributed Denial of Service (DDoS):  </a:t>
            </a:r>
            <a:endParaRPr lang="en-US" sz="1200" dirty="0"/>
          </a:p>
        </p:txBody>
      </p:sp>
      <p:sp>
        <p:nvSpPr>
          <p:cNvPr id="15" name="Text 12"/>
          <p:cNvSpPr/>
          <p:nvPr/>
        </p:nvSpPr>
        <p:spPr>
          <a:xfrm>
            <a:off x="1993392" y="2743200"/>
            <a:ext cx="6675120" cy="34747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Attackers flood a website or system with fake traffic until it collapses under the load. E-commerce sites lose thousands of dollars per minute during outages, especially around major shopping periods.</a:t>
            </a:r>
            <a:endParaRPr lang="en-US" sz="1100" dirty="0"/>
          </a:p>
        </p:txBody>
      </p:sp>
      <p:sp>
        <p:nvSpPr>
          <p:cNvPr id="16" name="Shape 13"/>
          <p:cNvSpPr/>
          <p:nvPr/>
        </p:nvSpPr>
        <p:spPr>
          <a:xfrm>
            <a:off x="365760" y="3200400"/>
            <a:ext cx="8412480" cy="457200"/>
          </a:xfrm>
          <a:prstGeom prst="rect">
            <a:avLst/>
          </a:prstGeom>
          <a:solidFill>
            <a:srgbClr val="F5F5F5"/>
          </a:solidFill>
          <a:ln w="12700">
            <a:solidFill>
              <a:srgbClr val="DDDDDD"/>
            </a:solidFill>
            <a:prstDash val="solid"/>
          </a:ln>
        </p:spPr>
      </p:sp>
      <p:sp>
        <p:nvSpPr>
          <p:cNvPr id="17" name="Shape 14"/>
          <p:cNvSpPr/>
          <p:nvPr/>
        </p:nvSpPr>
        <p:spPr>
          <a:xfrm>
            <a:off x="365760" y="3200400"/>
            <a:ext cx="54864" cy="457200"/>
          </a:xfrm>
          <a:prstGeom prst="rect">
            <a:avLst/>
          </a:prstGeom>
          <a:solidFill>
            <a:srgbClr val="680001"/>
          </a:solidFill>
          <a:ln w="12700">
            <a:solidFill>
              <a:srgbClr val="680001"/>
            </a:solidFill>
            <a:prstDash val="solid"/>
          </a:ln>
        </p:spPr>
      </p:sp>
      <p:sp>
        <p:nvSpPr>
          <p:cNvPr id="18" name="Text 15"/>
          <p:cNvSpPr/>
          <p:nvPr/>
        </p:nvSpPr>
        <p:spPr>
          <a:xfrm>
            <a:off x="502920" y="3246120"/>
            <a:ext cx="1463040" cy="36576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Hardware Failure:  </a:t>
            </a:r>
            <a:endParaRPr lang="en-US" sz="1200" dirty="0"/>
          </a:p>
        </p:txBody>
      </p:sp>
      <p:sp>
        <p:nvSpPr>
          <p:cNvPr id="19" name="Text 16"/>
          <p:cNvSpPr/>
          <p:nvPr/>
        </p:nvSpPr>
        <p:spPr>
          <a:xfrm>
            <a:off x="1993392" y="3255264"/>
            <a:ext cx="6675120" cy="34747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Server crashes, failed storage drives, or power outages bring systems offline. Without redundancy and backups, even a single hardware failure can halt operations for hours or days.</a:t>
            </a:r>
            <a:endParaRPr lang="en-US" sz="1100" dirty="0"/>
          </a:p>
        </p:txBody>
      </p:sp>
      <p:sp>
        <p:nvSpPr>
          <p:cNvPr id="20" name="Shape 17"/>
          <p:cNvSpPr/>
          <p:nvPr/>
        </p:nvSpPr>
        <p:spPr>
          <a:xfrm>
            <a:off x="365760" y="3712464"/>
            <a:ext cx="8412480" cy="457200"/>
          </a:xfrm>
          <a:prstGeom prst="rect">
            <a:avLst/>
          </a:prstGeom>
          <a:solidFill>
            <a:srgbClr val="FFFFFF"/>
          </a:solidFill>
          <a:ln w="12700">
            <a:solidFill>
              <a:srgbClr val="DDDDDD"/>
            </a:solidFill>
            <a:prstDash val="solid"/>
          </a:ln>
        </p:spPr>
      </p:sp>
      <p:sp>
        <p:nvSpPr>
          <p:cNvPr id="21" name="Shape 18"/>
          <p:cNvSpPr/>
          <p:nvPr/>
        </p:nvSpPr>
        <p:spPr>
          <a:xfrm>
            <a:off x="365760" y="3712464"/>
            <a:ext cx="54864" cy="457200"/>
          </a:xfrm>
          <a:prstGeom prst="rect">
            <a:avLst/>
          </a:prstGeom>
          <a:solidFill>
            <a:srgbClr val="680001"/>
          </a:solidFill>
          <a:ln w="12700">
            <a:solidFill>
              <a:srgbClr val="680001"/>
            </a:solidFill>
            <a:prstDash val="solid"/>
          </a:ln>
        </p:spPr>
      </p:sp>
      <p:sp>
        <p:nvSpPr>
          <p:cNvPr id="22" name="Text 19"/>
          <p:cNvSpPr/>
          <p:nvPr/>
        </p:nvSpPr>
        <p:spPr>
          <a:xfrm>
            <a:off x="502920" y="3758184"/>
            <a:ext cx="1463040" cy="36576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Human Error:  </a:t>
            </a:r>
            <a:endParaRPr lang="en-US" sz="1200" dirty="0"/>
          </a:p>
        </p:txBody>
      </p:sp>
      <p:sp>
        <p:nvSpPr>
          <p:cNvPr id="23" name="Text 20"/>
          <p:cNvSpPr/>
          <p:nvPr/>
        </p:nvSpPr>
        <p:spPr>
          <a:xfrm>
            <a:off x="1993392" y="3767328"/>
            <a:ext cx="6675120" cy="34747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Misconfigured systems, accidentally deleted databases, or incorrect software updates are among the most common causes of availability failures — and often the most preventable.</a:t>
            </a:r>
            <a:endParaRPr lang="en-US" sz="1100" dirty="0"/>
          </a:p>
        </p:txBody>
      </p:sp>
      <p:sp>
        <p:nvSpPr>
          <p:cNvPr id="24" name="Shape 21"/>
          <p:cNvSpPr/>
          <p:nvPr/>
        </p:nvSpPr>
        <p:spPr>
          <a:xfrm>
            <a:off x="365760" y="4224528"/>
            <a:ext cx="8412480" cy="457200"/>
          </a:xfrm>
          <a:prstGeom prst="rect">
            <a:avLst/>
          </a:prstGeom>
          <a:solidFill>
            <a:srgbClr val="F5F5F5"/>
          </a:solidFill>
          <a:ln w="12700">
            <a:solidFill>
              <a:srgbClr val="DDDDDD"/>
            </a:solidFill>
            <a:prstDash val="solid"/>
          </a:ln>
        </p:spPr>
      </p:sp>
      <p:sp>
        <p:nvSpPr>
          <p:cNvPr id="25" name="Shape 22"/>
          <p:cNvSpPr/>
          <p:nvPr/>
        </p:nvSpPr>
        <p:spPr>
          <a:xfrm>
            <a:off x="365760" y="4224528"/>
            <a:ext cx="54864" cy="457200"/>
          </a:xfrm>
          <a:prstGeom prst="rect">
            <a:avLst/>
          </a:prstGeom>
          <a:solidFill>
            <a:srgbClr val="680001"/>
          </a:solidFill>
          <a:ln w="12700">
            <a:solidFill>
              <a:srgbClr val="680001"/>
            </a:solidFill>
            <a:prstDash val="solid"/>
          </a:ln>
        </p:spPr>
      </p:sp>
      <p:sp>
        <p:nvSpPr>
          <p:cNvPr id="26" name="Text 23"/>
          <p:cNvSpPr/>
          <p:nvPr/>
        </p:nvSpPr>
        <p:spPr>
          <a:xfrm>
            <a:off x="502920" y="4270248"/>
            <a:ext cx="1463040" cy="36576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Natural Disasters:  </a:t>
            </a:r>
            <a:endParaRPr lang="en-US" sz="1200" dirty="0"/>
          </a:p>
        </p:txBody>
      </p:sp>
      <p:sp>
        <p:nvSpPr>
          <p:cNvPr id="27" name="Text 24"/>
          <p:cNvSpPr/>
          <p:nvPr/>
        </p:nvSpPr>
        <p:spPr>
          <a:xfrm>
            <a:off x="1993392" y="4279392"/>
            <a:ext cx="6675120" cy="34747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Floods, fires, and severe storms can destroy data centers and cut power. Organizations without disaster recovery plans face extended outages and potentially permanent data loss.</a:t>
            </a:r>
            <a:endParaRPr lang="en-US" sz="1100" dirty="0"/>
          </a:p>
        </p:txBody>
      </p:sp>
      <p:sp>
        <p:nvSpPr>
          <p:cNvPr id="28" name="Shape 25"/>
          <p:cNvSpPr/>
          <p:nvPr/>
        </p:nvSpPr>
        <p:spPr>
          <a:xfrm>
            <a:off x="365760" y="4617720"/>
            <a:ext cx="8412480" cy="137160"/>
          </a:xfrm>
          <a:prstGeom prst="rect">
            <a:avLst/>
          </a:prstGeom>
          <a:solidFill>
            <a:srgbClr val="680001"/>
          </a:solidFill>
          <a:ln w="12700">
            <a:solidFill>
              <a:srgbClr val="680001"/>
            </a:solidFill>
            <a:prstDash val="solid"/>
          </a:ln>
        </p:spPr>
      </p:sp>
      <p:sp>
        <p:nvSpPr>
          <p:cNvPr id="29" name="Shape 26"/>
          <p:cNvSpPr/>
          <p:nvPr/>
        </p:nvSpPr>
        <p:spPr>
          <a:xfrm>
            <a:off x="0" y="4800600"/>
            <a:ext cx="9144000" cy="342900"/>
          </a:xfrm>
          <a:prstGeom prst="rect">
            <a:avLst/>
          </a:prstGeom>
          <a:solidFill>
            <a:srgbClr val="680001"/>
          </a:solidFill>
          <a:ln w="12700">
            <a:solidFill>
              <a:srgbClr val="680001"/>
            </a:solidFill>
            <a:prstDash val="solid"/>
          </a:ln>
        </p:spPr>
      </p:sp>
      <p:sp>
        <p:nvSpPr>
          <p:cNvPr id="30" name="Text 27"/>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31" name="Text 28"/>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680001"/>
        </a:solidFill>
      </p:bgPr>
    </p:bg>
    <p:spTree>
      <p:nvGrpSpPr>
        <p:cNvPr id="1" name=""/>
        <p:cNvGrpSpPr/>
        <p:nvPr/>
      </p:nvGrpSpPr>
      <p:grpSpPr>
        <a:xfrm>
          <a:off x="0" y="0"/>
          <a:ext cx="0" cy="0"/>
          <a:chOff x="0" y="0"/>
          <a:chExt cx="0" cy="0"/>
        </a:xfrm>
      </p:grpSpPr>
      <p:pic>
        <p:nvPicPr>
          <p:cNvPr id="2" name="Image 0" descr="/home/claude/unoh_logo.png">    </p:cNvPr>
          <p:cNvPicPr>
            <a:picLocks noChangeAspect="1"/>
          </p:cNvPicPr>
          <p:nvPr/>
        </p:nvPicPr>
        <p:blipFill>
          <a:blip r:embed="rId1"/>
          <a:srcRect l="0" r="0" t="0" b="0"/>
          <a:stretch/>
        </p:blipFill>
        <p:spPr>
          <a:xfrm>
            <a:off x="6858000" y="91440"/>
            <a:ext cx="2011680" cy="777240"/>
          </a:xfrm>
          <a:prstGeom prst="rect">
            <a:avLst/>
          </a:prstGeom>
        </p:spPr>
      </p:pic>
      <p:sp>
        <p:nvSpPr>
          <p:cNvPr id="3" name="Text 0"/>
          <p:cNvSpPr/>
          <p:nvPr/>
        </p:nvSpPr>
        <p:spPr>
          <a:xfrm>
            <a:off x="457200" y="137160"/>
            <a:ext cx="6400800" cy="6858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CIA Triad — Real Business Consequences</a:t>
            </a:r>
            <a:endParaRPr lang="en-US" sz="2600" dirty="0"/>
          </a:p>
        </p:txBody>
      </p:sp>
      <p:sp>
        <p:nvSpPr>
          <p:cNvPr id="4" name="Text 1"/>
          <p:cNvSpPr/>
          <p:nvPr/>
        </p:nvSpPr>
        <p:spPr>
          <a:xfrm>
            <a:off x="457200" y="822960"/>
            <a:ext cx="8229600" cy="347472"/>
          </a:xfrm>
          <a:prstGeom prst="rect">
            <a:avLst/>
          </a:prstGeom>
          <a:noFill/>
          <a:ln/>
        </p:spPr>
        <p:txBody>
          <a:bodyPr wrap="square" rtlCol="0" anchor="ctr"/>
          <a:lstStyle/>
          <a:p>
            <a:pPr indent="0" marL="0">
              <a:buNone/>
            </a:pPr>
            <a:r>
              <a:rPr lang="en-US" sz="1300" i="1" dirty="0">
                <a:solidFill>
                  <a:srgbClr val="F5C0C0"/>
                </a:solidFill>
                <a:latin typeface="Calibri" pitchFamily="34" charset="0"/>
                <a:ea typeface="Calibri" pitchFamily="34" charset="-122"/>
                <a:cs typeface="Calibri" pitchFamily="34" charset="-120"/>
              </a:rPr>
              <a:t>Every CIA violation translates into one or more of these three business consequences:</a:t>
            </a:r>
            <a:endParaRPr lang="en-US" sz="1300" dirty="0"/>
          </a:p>
        </p:txBody>
      </p:sp>
      <p:sp>
        <p:nvSpPr>
          <p:cNvPr id="5" name="Shape 2"/>
          <p:cNvSpPr/>
          <p:nvPr/>
        </p:nvSpPr>
        <p:spPr>
          <a:xfrm>
            <a:off x="320040" y="1261872"/>
            <a:ext cx="2743200" cy="3429000"/>
          </a:xfrm>
          <a:prstGeom prst="rect">
            <a:avLst/>
          </a:prstGeom>
          <a:solidFill>
            <a:srgbClr val="4A0001"/>
          </a:solidFill>
          <a:ln w="12700">
            <a:solidFill>
              <a:srgbClr val="8A1A1A"/>
            </a:solidFill>
            <a:prstDash val="solid"/>
          </a:ln>
          <a:effectLst>
            <a:outerShdw sx="100000" sy="100000" kx="0" ky="0" algn="bl" rotWithShape="0" blurRad="63500" dist="25400" dir="8100000">
              <a:srgbClr val="000000">
                <a:alpha val="12000"/>
              </a:srgbClr>
            </a:outerShdw>
          </a:effectLst>
        </p:spPr>
      </p:sp>
      <p:sp>
        <p:nvSpPr>
          <p:cNvPr id="6" name="Text 3"/>
          <p:cNvSpPr/>
          <p:nvPr/>
        </p:nvSpPr>
        <p:spPr>
          <a:xfrm>
            <a:off x="429768" y="1316736"/>
            <a:ext cx="2523744"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Operations</a:t>
            </a:r>
            <a:endParaRPr lang="en-US" sz="1600" dirty="0"/>
          </a:p>
        </p:txBody>
      </p:sp>
      <p:sp>
        <p:nvSpPr>
          <p:cNvPr id="7" name="Text 4"/>
          <p:cNvSpPr/>
          <p:nvPr/>
        </p:nvSpPr>
        <p:spPr>
          <a:xfrm>
            <a:off x="429768" y="1719072"/>
            <a:ext cx="2523744" cy="256032"/>
          </a:xfrm>
          <a:prstGeom prst="rect">
            <a:avLst/>
          </a:prstGeom>
          <a:noFill/>
          <a:ln/>
        </p:spPr>
        <p:txBody>
          <a:bodyPr wrap="square" rtlCol="0" anchor="ctr"/>
          <a:lstStyle/>
          <a:p>
            <a:pPr indent="0" marL="0">
              <a:buNone/>
            </a:pPr>
            <a:r>
              <a:rPr lang="en-US" sz="1050" i="1" dirty="0">
                <a:solidFill>
                  <a:srgbClr val="F5C0C0"/>
                </a:solidFill>
                <a:latin typeface="Calibri" pitchFamily="34" charset="0"/>
                <a:ea typeface="Calibri" pitchFamily="34" charset="-122"/>
                <a:cs typeface="Calibri" pitchFamily="34" charset="-120"/>
              </a:rPr>
              <a:t>Affects all three — C, I, A</a:t>
            </a:r>
            <a:endParaRPr lang="en-US" sz="1050" dirty="0"/>
          </a:p>
        </p:txBody>
      </p:sp>
      <p:sp>
        <p:nvSpPr>
          <p:cNvPr id="8" name="Text 5"/>
          <p:cNvSpPr/>
          <p:nvPr/>
        </p:nvSpPr>
        <p:spPr>
          <a:xfrm>
            <a:off x="429768" y="202996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Systems offline → staff cannot perform their jobs, processes halt, customers cannot be served</a:t>
            </a:r>
            <a:endParaRPr lang="en-US" sz="1050" dirty="0"/>
          </a:p>
        </p:txBody>
      </p:sp>
      <p:sp>
        <p:nvSpPr>
          <p:cNvPr id="9" name="Text 6"/>
          <p:cNvSpPr/>
          <p:nvPr/>
        </p:nvSpPr>
        <p:spPr>
          <a:xfrm>
            <a:off x="429768" y="267004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Corrupted data → decisions are made on bad information, errors propagate across the organization</a:t>
            </a:r>
            <a:endParaRPr lang="en-US" sz="1050" dirty="0"/>
          </a:p>
        </p:txBody>
      </p:sp>
      <p:sp>
        <p:nvSpPr>
          <p:cNvPr id="10" name="Text 7"/>
          <p:cNvSpPr/>
          <p:nvPr/>
        </p:nvSpPr>
        <p:spPr>
          <a:xfrm>
            <a:off x="429768" y="331012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Unauthorized access → workflows are disrupted as systems are locked down for investigation</a:t>
            </a:r>
            <a:endParaRPr lang="en-US" sz="1050" dirty="0"/>
          </a:p>
        </p:txBody>
      </p:sp>
      <p:sp>
        <p:nvSpPr>
          <p:cNvPr id="11" name="Text 8"/>
          <p:cNvSpPr/>
          <p:nvPr/>
        </p:nvSpPr>
        <p:spPr>
          <a:xfrm>
            <a:off x="429768" y="395020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Recovery operations consume enormous staff time, diverting resources from normal work</a:t>
            </a:r>
            <a:endParaRPr lang="en-US" sz="1050" dirty="0"/>
          </a:p>
        </p:txBody>
      </p:sp>
      <p:sp>
        <p:nvSpPr>
          <p:cNvPr id="12" name="Shape 9"/>
          <p:cNvSpPr/>
          <p:nvPr/>
        </p:nvSpPr>
        <p:spPr>
          <a:xfrm>
            <a:off x="3246120" y="1261872"/>
            <a:ext cx="2743200" cy="3429000"/>
          </a:xfrm>
          <a:prstGeom prst="rect">
            <a:avLst/>
          </a:prstGeom>
          <a:solidFill>
            <a:srgbClr val="4A0001"/>
          </a:solidFill>
          <a:ln w="12700">
            <a:solidFill>
              <a:srgbClr val="8A1A1A"/>
            </a:solidFill>
            <a:prstDash val="solid"/>
          </a:ln>
          <a:effectLst>
            <a:outerShdw sx="100000" sy="100000" kx="0" ky="0" algn="bl" rotWithShape="0" blurRad="63500" dist="25400" dir="8100000">
              <a:srgbClr val="000000">
                <a:alpha val="12000"/>
              </a:srgbClr>
            </a:outerShdw>
          </a:effectLst>
        </p:spPr>
      </p:sp>
      <p:sp>
        <p:nvSpPr>
          <p:cNvPr id="13" name="Text 10"/>
          <p:cNvSpPr/>
          <p:nvPr/>
        </p:nvSpPr>
        <p:spPr>
          <a:xfrm>
            <a:off x="3355848" y="1316736"/>
            <a:ext cx="2523744"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Finances</a:t>
            </a:r>
            <a:endParaRPr lang="en-US" sz="1600" dirty="0"/>
          </a:p>
        </p:txBody>
      </p:sp>
      <p:sp>
        <p:nvSpPr>
          <p:cNvPr id="14" name="Text 11"/>
          <p:cNvSpPr/>
          <p:nvPr/>
        </p:nvSpPr>
        <p:spPr>
          <a:xfrm>
            <a:off x="3355848" y="1719072"/>
            <a:ext cx="2523744" cy="256032"/>
          </a:xfrm>
          <a:prstGeom prst="rect">
            <a:avLst/>
          </a:prstGeom>
          <a:noFill/>
          <a:ln/>
        </p:spPr>
        <p:txBody>
          <a:bodyPr wrap="square" rtlCol="0" anchor="ctr"/>
          <a:lstStyle/>
          <a:p>
            <a:pPr indent="0" marL="0">
              <a:buNone/>
            </a:pPr>
            <a:r>
              <a:rPr lang="en-US" sz="1050" i="1" dirty="0">
                <a:solidFill>
                  <a:srgbClr val="F5C0C0"/>
                </a:solidFill>
                <a:latin typeface="Calibri" pitchFamily="34" charset="0"/>
                <a:ea typeface="Calibri" pitchFamily="34" charset="-122"/>
                <a:cs typeface="Calibri" pitchFamily="34" charset="-120"/>
              </a:rPr>
              <a:t>Direct and indirect costs</a:t>
            </a:r>
            <a:endParaRPr lang="en-US" sz="1050" dirty="0"/>
          </a:p>
        </p:txBody>
      </p:sp>
      <p:sp>
        <p:nvSpPr>
          <p:cNvPr id="15" name="Text 12"/>
          <p:cNvSpPr/>
          <p:nvPr/>
        </p:nvSpPr>
        <p:spPr>
          <a:xfrm>
            <a:off x="3355848" y="202996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Regulatory fines: HIPAA up to $1.9M / violation; GDPR up to 4% of global revenue</a:t>
            </a:r>
            <a:endParaRPr lang="en-US" sz="1050" dirty="0"/>
          </a:p>
        </p:txBody>
      </p:sp>
      <p:sp>
        <p:nvSpPr>
          <p:cNvPr id="16" name="Text 13"/>
          <p:cNvSpPr/>
          <p:nvPr/>
        </p:nvSpPr>
        <p:spPr>
          <a:xfrm>
            <a:off x="3355848" y="267004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Incident response and forensics: $250–$500/hour for specialists; weeks of engagement</a:t>
            </a:r>
            <a:endParaRPr lang="en-US" sz="1050" dirty="0"/>
          </a:p>
        </p:txBody>
      </p:sp>
      <p:sp>
        <p:nvSpPr>
          <p:cNvPr id="17" name="Text 14"/>
          <p:cNvSpPr/>
          <p:nvPr/>
        </p:nvSpPr>
        <p:spPr>
          <a:xfrm>
            <a:off x="3355848" y="331012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Lost revenue during downtime: e-commerce loses $5,600/minute on average (Gartner)</a:t>
            </a:r>
            <a:endParaRPr lang="en-US" sz="1050" dirty="0"/>
          </a:p>
        </p:txBody>
      </p:sp>
      <p:sp>
        <p:nvSpPr>
          <p:cNvPr id="18" name="Text 15"/>
          <p:cNvSpPr/>
          <p:nvPr/>
        </p:nvSpPr>
        <p:spPr>
          <a:xfrm>
            <a:off x="3355848" y="395020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Long-term: higher cyber insurance premiums, credit downgrades, investor concern</a:t>
            </a:r>
            <a:endParaRPr lang="en-US" sz="1050" dirty="0"/>
          </a:p>
        </p:txBody>
      </p:sp>
      <p:sp>
        <p:nvSpPr>
          <p:cNvPr id="19" name="Shape 16"/>
          <p:cNvSpPr/>
          <p:nvPr/>
        </p:nvSpPr>
        <p:spPr>
          <a:xfrm>
            <a:off x="6172200" y="1261872"/>
            <a:ext cx="2743200" cy="3429000"/>
          </a:xfrm>
          <a:prstGeom prst="rect">
            <a:avLst/>
          </a:prstGeom>
          <a:solidFill>
            <a:srgbClr val="4A0001"/>
          </a:solidFill>
          <a:ln w="12700">
            <a:solidFill>
              <a:srgbClr val="8A1A1A"/>
            </a:solidFill>
            <a:prstDash val="solid"/>
          </a:ln>
          <a:effectLst>
            <a:outerShdw sx="100000" sy="100000" kx="0" ky="0" algn="bl" rotWithShape="0" blurRad="63500" dist="25400" dir="8100000">
              <a:srgbClr val="000000">
                <a:alpha val="12000"/>
              </a:srgbClr>
            </a:outerShdw>
          </a:effectLst>
        </p:spPr>
      </p:sp>
      <p:sp>
        <p:nvSpPr>
          <p:cNvPr id="20" name="Text 17"/>
          <p:cNvSpPr/>
          <p:nvPr/>
        </p:nvSpPr>
        <p:spPr>
          <a:xfrm>
            <a:off x="6281928" y="1316736"/>
            <a:ext cx="2523744"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Reputation</a:t>
            </a:r>
            <a:endParaRPr lang="en-US" sz="1600" dirty="0"/>
          </a:p>
        </p:txBody>
      </p:sp>
      <p:sp>
        <p:nvSpPr>
          <p:cNvPr id="21" name="Text 18"/>
          <p:cNvSpPr/>
          <p:nvPr/>
        </p:nvSpPr>
        <p:spPr>
          <a:xfrm>
            <a:off x="6281928" y="1719072"/>
            <a:ext cx="2523744" cy="256032"/>
          </a:xfrm>
          <a:prstGeom prst="rect">
            <a:avLst/>
          </a:prstGeom>
          <a:noFill/>
          <a:ln/>
        </p:spPr>
        <p:txBody>
          <a:bodyPr wrap="square" rtlCol="0" anchor="ctr"/>
          <a:lstStyle/>
          <a:p>
            <a:pPr indent="0" marL="0">
              <a:buNone/>
            </a:pPr>
            <a:r>
              <a:rPr lang="en-US" sz="1050" i="1" dirty="0">
                <a:solidFill>
                  <a:srgbClr val="F5C0C0"/>
                </a:solidFill>
                <a:latin typeface="Calibri" pitchFamily="34" charset="0"/>
                <a:ea typeface="Calibri" pitchFamily="34" charset="-122"/>
                <a:cs typeface="Calibri" pitchFamily="34" charset="-120"/>
              </a:rPr>
              <a:t>Long-tail consequences</a:t>
            </a:r>
            <a:endParaRPr lang="en-US" sz="1050" dirty="0"/>
          </a:p>
        </p:txBody>
      </p:sp>
      <p:sp>
        <p:nvSpPr>
          <p:cNvPr id="22" name="Text 19"/>
          <p:cNvSpPr/>
          <p:nvPr/>
        </p:nvSpPr>
        <p:spPr>
          <a:xfrm>
            <a:off x="6281928" y="202996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65% of customers lose trust in a brand after a breach — many never return (Cisco research)</a:t>
            </a:r>
            <a:endParaRPr lang="en-US" sz="1050" dirty="0"/>
          </a:p>
        </p:txBody>
      </p:sp>
      <p:sp>
        <p:nvSpPr>
          <p:cNvPr id="23" name="Text 20"/>
          <p:cNvSpPr/>
          <p:nvPr/>
        </p:nvSpPr>
        <p:spPr>
          <a:xfrm>
            <a:off x="6281928" y="267004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Negative media coverage reaches far beyond the organization's normal audience</a:t>
            </a:r>
            <a:endParaRPr lang="en-US" sz="1050" dirty="0"/>
          </a:p>
        </p:txBody>
      </p:sp>
      <p:sp>
        <p:nvSpPr>
          <p:cNvPr id="24" name="Text 21"/>
          <p:cNvSpPr/>
          <p:nvPr/>
        </p:nvSpPr>
        <p:spPr>
          <a:xfrm>
            <a:off x="6281928" y="331012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Employee morale and recruitment suffer — talented staff avoid organizations with known security failures</a:t>
            </a:r>
            <a:endParaRPr lang="en-US" sz="1050" dirty="0"/>
          </a:p>
        </p:txBody>
      </p:sp>
      <p:sp>
        <p:nvSpPr>
          <p:cNvPr id="25" name="Text 22"/>
          <p:cNvSpPr/>
          <p:nvPr/>
        </p:nvSpPr>
        <p:spPr>
          <a:xfrm>
            <a:off x="6281928" y="3950208"/>
            <a:ext cx="2523744" cy="566928"/>
          </a:xfrm>
          <a:prstGeom prst="rect">
            <a:avLst/>
          </a:prstGeom>
          <a:noFill/>
          <a:ln/>
        </p:spPr>
        <p:txBody>
          <a:bodyPr wrap="square" rtlCol="0" anchor="ctr"/>
          <a:lstStyle/>
          <a:p>
            <a:pPr indent="0" marL="0">
              <a:buNone/>
            </a:pPr>
            <a:r>
              <a:rPr lang="en-US" sz="1050" dirty="0">
                <a:solidFill>
                  <a:srgbClr val="F5C0C0"/>
                </a:solidFill>
                <a:latin typeface="Calibri" pitchFamily="34" charset="0"/>
                <a:ea typeface="Calibri" pitchFamily="34" charset="-122"/>
                <a:cs typeface="Calibri" pitchFamily="34" charset="-120"/>
              </a:rPr>
              <a:t>▸  Partnerships and vendor relationships may be at risk if breach exposes their data too</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680001"/>
        </a:solidFill>
      </p:bgPr>
    </p:bg>
    <p:spTree>
      <p:nvGrpSpPr>
        <p:cNvPr id="1" name=""/>
        <p:cNvGrpSpPr/>
        <p:nvPr/>
      </p:nvGrpSpPr>
      <p:grpSpPr>
        <a:xfrm>
          <a:off x="0" y="0"/>
          <a:ext cx="0" cy="0"/>
          <a:chOff x="0" y="0"/>
          <a:chExt cx="0" cy="0"/>
        </a:xfrm>
      </p:grpSpPr>
      <p:pic>
        <p:nvPicPr>
          <p:cNvPr id="2" name="Image 0" descr="/home/claude/unoh_logo.png">    </p:cNvPr>
          <p:cNvPicPr>
            <a:picLocks noChangeAspect="1"/>
          </p:cNvPicPr>
          <p:nvPr/>
        </p:nvPicPr>
        <p:blipFill>
          <a:blip r:embed="rId1"/>
          <a:srcRect l="0" r="0" t="0" b="0"/>
          <a:stretch/>
        </p:blipFill>
        <p:spPr>
          <a:xfrm>
            <a:off x="6858000" y="4389120"/>
            <a:ext cx="2011680" cy="640080"/>
          </a:xfrm>
          <a:prstGeom prst="rect">
            <a:avLst/>
          </a:prstGeom>
        </p:spPr>
      </p:pic>
      <p:sp>
        <p:nvSpPr>
          <p:cNvPr id="3" name="Text 0"/>
          <p:cNvSpPr/>
          <p:nvPr/>
        </p:nvSpPr>
        <p:spPr>
          <a:xfrm>
            <a:off x="548640" y="1188720"/>
            <a:ext cx="8229600" cy="411480"/>
          </a:xfrm>
          <a:prstGeom prst="rect">
            <a:avLst/>
          </a:prstGeom>
          <a:noFill/>
          <a:ln/>
        </p:spPr>
        <p:txBody>
          <a:bodyPr wrap="square" rtlCol="0" anchor="ctr"/>
          <a:lstStyle/>
          <a:p>
            <a:pPr indent="0" marL="0">
              <a:buNone/>
            </a:pPr>
            <a:r>
              <a:rPr lang="en-US" sz="1500" dirty="0">
                <a:solidFill>
                  <a:srgbClr val="F5C0C0"/>
                </a:solidFill>
                <a:latin typeface="Calibri" pitchFamily="34" charset="0"/>
                <a:ea typeface="Calibri" pitchFamily="34" charset="-122"/>
                <a:cs typeface="Calibri" pitchFamily="34" charset="-120"/>
              </a:rPr>
              <a:t>Module 1</a:t>
            </a:r>
            <a:endParaRPr lang="en-US" sz="1500" dirty="0"/>
          </a:p>
        </p:txBody>
      </p:sp>
      <p:sp>
        <p:nvSpPr>
          <p:cNvPr id="4" name="Text 1"/>
          <p:cNvSpPr/>
          <p:nvPr/>
        </p:nvSpPr>
        <p:spPr>
          <a:xfrm>
            <a:off x="548640" y="1627632"/>
            <a:ext cx="8229600" cy="13716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Technology Use vs. Technology Risk</a:t>
            </a:r>
            <a:endParaRPr lang="en-US" sz="4400" dirty="0"/>
          </a:p>
        </p:txBody>
      </p:sp>
      <p:sp>
        <p:nvSpPr>
          <p:cNvPr id="5" name="Text 2"/>
          <p:cNvSpPr/>
          <p:nvPr/>
        </p:nvSpPr>
        <p:spPr>
          <a:xfrm>
            <a:off x="548640" y="3063240"/>
            <a:ext cx="7772400" cy="594360"/>
          </a:xfrm>
          <a:prstGeom prst="rect">
            <a:avLst/>
          </a:prstGeom>
          <a:noFill/>
          <a:ln/>
        </p:spPr>
        <p:txBody>
          <a:bodyPr wrap="square" rtlCol="0" anchor="ctr"/>
          <a:lstStyle/>
          <a:p>
            <a:pPr indent="0" marL="0">
              <a:buNone/>
            </a:pPr>
            <a:r>
              <a:rPr lang="en-US" sz="1600" i="1" dirty="0">
                <a:solidFill>
                  <a:srgbClr val="F5C0C0"/>
                </a:solidFill>
                <a:latin typeface="Calibri" pitchFamily="34" charset="0"/>
                <a:ea typeface="Calibri" pitchFamily="34" charset="-122"/>
                <a:cs typeface="Calibri" pitchFamily="34" charset="-120"/>
              </a:rPr>
              <a:t>The critical distinction that drives this course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Technology Use vs. Technology Risk</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Text 2"/>
          <p:cNvSpPr/>
          <p:nvPr/>
        </p:nvSpPr>
        <p:spPr>
          <a:xfrm>
            <a:off x="411480" y="1078992"/>
            <a:ext cx="8321040" cy="566928"/>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One of the most important distinctions in this course — and in professional life — is the difference between using technology and managing the risks that come with it. Most organizations are very good at the first and underprepared for the second.</a:t>
            </a:r>
            <a:endParaRPr lang="en-US" sz="1250" dirty="0"/>
          </a:p>
        </p:txBody>
      </p:sp>
      <p:sp>
        <p:nvSpPr>
          <p:cNvPr id="6" name="Shape 3"/>
          <p:cNvSpPr/>
          <p:nvPr/>
        </p:nvSpPr>
        <p:spPr>
          <a:xfrm>
            <a:off x="365760" y="1737360"/>
            <a:ext cx="3977640" cy="290779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7" name="Shape 4"/>
          <p:cNvSpPr/>
          <p:nvPr/>
        </p:nvSpPr>
        <p:spPr>
          <a:xfrm>
            <a:off x="365760" y="1737360"/>
            <a:ext cx="3977640" cy="548640"/>
          </a:xfrm>
          <a:prstGeom prst="rect">
            <a:avLst/>
          </a:prstGeom>
          <a:solidFill>
            <a:srgbClr val="1A4A8A"/>
          </a:solidFill>
          <a:ln w="12700">
            <a:solidFill>
              <a:srgbClr val="1A4A8A"/>
            </a:solidFill>
            <a:prstDash val="solid"/>
          </a:ln>
        </p:spPr>
      </p:sp>
      <p:sp>
        <p:nvSpPr>
          <p:cNvPr id="8" name="Text 5"/>
          <p:cNvSpPr/>
          <p:nvPr/>
        </p:nvSpPr>
        <p:spPr>
          <a:xfrm>
            <a:off x="457200" y="1737360"/>
            <a:ext cx="379476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TECHNOLOGY USE</a:t>
            </a:r>
            <a:endParaRPr lang="en-US" sz="1600" dirty="0"/>
          </a:p>
        </p:txBody>
      </p:sp>
      <p:sp>
        <p:nvSpPr>
          <p:cNvPr id="9" name="Text 6"/>
          <p:cNvSpPr/>
          <p:nvPr/>
        </p:nvSpPr>
        <p:spPr>
          <a:xfrm>
            <a:off x="502920" y="2340864"/>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Installing and configuring software systems</a:t>
            </a:r>
            <a:endParaRPr lang="en-US" sz="1150" dirty="0"/>
          </a:p>
        </p:txBody>
      </p:sp>
      <p:sp>
        <p:nvSpPr>
          <p:cNvPr id="10" name="Text 7"/>
          <p:cNvSpPr/>
          <p:nvPr/>
        </p:nvSpPr>
        <p:spPr>
          <a:xfrm>
            <a:off x="502920" y="2715768"/>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Storing customer and employee data in databases</a:t>
            </a:r>
            <a:endParaRPr lang="en-US" sz="1150" dirty="0"/>
          </a:p>
        </p:txBody>
      </p:sp>
      <p:sp>
        <p:nvSpPr>
          <p:cNvPr id="11" name="Text 8"/>
          <p:cNvSpPr/>
          <p:nvPr/>
        </p:nvSpPr>
        <p:spPr>
          <a:xfrm>
            <a:off x="502920" y="3090672"/>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Processing payments through third-party platforms</a:t>
            </a:r>
            <a:endParaRPr lang="en-US" sz="1150" dirty="0"/>
          </a:p>
        </p:txBody>
      </p:sp>
      <p:sp>
        <p:nvSpPr>
          <p:cNvPr id="12" name="Text 9"/>
          <p:cNvSpPr/>
          <p:nvPr/>
        </p:nvSpPr>
        <p:spPr>
          <a:xfrm>
            <a:off x="502920" y="3465576"/>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Enabling employees to work remotely via cloud services</a:t>
            </a:r>
            <a:endParaRPr lang="en-US" sz="1150" dirty="0"/>
          </a:p>
        </p:txBody>
      </p:sp>
      <p:sp>
        <p:nvSpPr>
          <p:cNvPr id="13" name="Text 10"/>
          <p:cNvSpPr/>
          <p:nvPr/>
        </p:nvSpPr>
        <p:spPr>
          <a:xfrm>
            <a:off x="502920" y="3840480"/>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Communicating via email, chat, and video conferencing</a:t>
            </a:r>
            <a:endParaRPr lang="en-US" sz="1150" dirty="0"/>
          </a:p>
        </p:txBody>
      </p:sp>
      <p:sp>
        <p:nvSpPr>
          <p:cNvPr id="14" name="Text 11"/>
          <p:cNvSpPr/>
          <p:nvPr/>
        </p:nvSpPr>
        <p:spPr>
          <a:xfrm>
            <a:off x="502920" y="4215384"/>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Automating payroll, HR, and reporting processes</a:t>
            </a:r>
            <a:endParaRPr lang="en-US" sz="1150" dirty="0"/>
          </a:p>
        </p:txBody>
      </p:sp>
      <p:sp>
        <p:nvSpPr>
          <p:cNvPr id="15" name="Shape 12"/>
          <p:cNvSpPr/>
          <p:nvPr/>
        </p:nvSpPr>
        <p:spPr>
          <a:xfrm>
            <a:off x="4800600" y="1737360"/>
            <a:ext cx="3977640" cy="290779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6" name="Shape 13"/>
          <p:cNvSpPr/>
          <p:nvPr/>
        </p:nvSpPr>
        <p:spPr>
          <a:xfrm>
            <a:off x="4800600" y="1737360"/>
            <a:ext cx="3977640" cy="548640"/>
          </a:xfrm>
          <a:prstGeom prst="rect">
            <a:avLst/>
          </a:prstGeom>
          <a:solidFill>
            <a:srgbClr val="680001"/>
          </a:solidFill>
          <a:ln w="12700">
            <a:solidFill>
              <a:srgbClr val="680001"/>
            </a:solidFill>
            <a:prstDash val="solid"/>
          </a:ln>
        </p:spPr>
      </p:sp>
      <p:sp>
        <p:nvSpPr>
          <p:cNvPr id="17" name="Text 14"/>
          <p:cNvSpPr/>
          <p:nvPr/>
        </p:nvSpPr>
        <p:spPr>
          <a:xfrm>
            <a:off x="4892040" y="1737360"/>
            <a:ext cx="379476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TECHNOLOGY RISK</a:t>
            </a:r>
            <a:endParaRPr lang="en-US" sz="1600" dirty="0"/>
          </a:p>
        </p:txBody>
      </p:sp>
      <p:sp>
        <p:nvSpPr>
          <p:cNvPr id="18" name="Text 15"/>
          <p:cNvSpPr/>
          <p:nvPr/>
        </p:nvSpPr>
        <p:spPr>
          <a:xfrm>
            <a:off x="4937760" y="2340864"/>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Asking: what could go wrong with each system we use?</a:t>
            </a:r>
            <a:endParaRPr lang="en-US" sz="1150" dirty="0"/>
          </a:p>
        </p:txBody>
      </p:sp>
      <p:sp>
        <p:nvSpPr>
          <p:cNvPr id="19" name="Text 16"/>
          <p:cNvSpPr/>
          <p:nvPr/>
        </p:nvSpPr>
        <p:spPr>
          <a:xfrm>
            <a:off x="4937760" y="2715768"/>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Identifying what data could be exposed, stolen, or lost</a:t>
            </a:r>
            <a:endParaRPr lang="en-US" sz="1150" dirty="0"/>
          </a:p>
        </p:txBody>
      </p:sp>
      <p:sp>
        <p:nvSpPr>
          <p:cNvPr id="20" name="Text 17"/>
          <p:cNvSpPr/>
          <p:nvPr/>
        </p:nvSpPr>
        <p:spPr>
          <a:xfrm>
            <a:off x="4937760" y="3090672"/>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Assessing which vendors and partners introduce risk</a:t>
            </a:r>
            <a:endParaRPr lang="en-US" sz="1150" dirty="0"/>
          </a:p>
        </p:txBody>
      </p:sp>
      <p:sp>
        <p:nvSpPr>
          <p:cNvPr id="21" name="Text 18"/>
          <p:cNvSpPr/>
          <p:nvPr/>
        </p:nvSpPr>
        <p:spPr>
          <a:xfrm>
            <a:off x="4937760" y="3465576"/>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Evaluating how remote work expands the attack surface</a:t>
            </a:r>
            <a:endParaRPr lang="en-US" sz="1150" dirty="0"/>
          </a:p>
        </p:txBody>
      </p:sp>
      <p:sp>
        <p:nvSpPr>
          <p:cNvPr id="22" name="Text 19"/>
          <p:cNvSpPr/>
          <p:nvPr/>
        </p:nvSpPr>
        <p:spPr>
          <a:xfrm>
            <a:off x="4937760" y="3840480"/>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Detecting threats in email and communication channels</a:t>
            </a:r>
            <a:endParaRPr lang="en-US" sz="1150" dirty="0"/>
          </a:p>
        </p:txBody>
      </p:sp>
      <p:sp>
        <p:nvSpPr>
          <p:cNvPr id="23" name="Text 20"/>
          <p:cNvSpPr/>
          <p:nvPr/>
        </p:nvSpPr>
        <p:spPr>
          <a:xfrm>
            <a:off x="4937760" y="4215384"/>
            <a:ext cx="3749040"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Ensuring payroll systems cannot be manipulated or accessed without authorization</a:t>
            </a:r>
            <a:endParaRPr lang="en-US" sz="1150" dirty="0"/>
          </a:p>
        </p:txBody>
      </p:sp>
      <p:sp>
        <p:nvSpPr>
          <p:cNvPr id="24" name="Shape 21"/>
          <p:cNvSpPr/>
          <p:nvPr/>
        </p:nvSpPr>
        <p:spPr>
          <a:xfrm>
            <a:off x="0" y="4800600"/>
            <a:ext cx="9144000" cy="342900"/>
          </a:xfrm>
          <a:prstGeom prst="rect">
            <a:avLst/>
          </a:prstGeom>
          <a:solidFill>
            <a:srgbClr val="680001"/>
          </a:solidFill>
          <a:ln w="12700">
            <a:solidFill>
              <a:srgbClr val="680001"/>
            </a:solidFill>
            <a:prstDash val="solid"/>
          </a:ln>
        </p:spPr>
      </p:sp>
      <p:sp>
        <p:nvSpPr>
          <p:cNvPr id="25" name="Text 22"/>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26" name="Text 23"/>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That Distinction Matters — For Leaders and Organizations</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Text 2"/>
          <p:cNvSpPr/>
          <p:nvPr/>
        </p:nvSpPr>
        <p:spPr>
          <a:xfrm>
            <a:off x="411480" y="1078992"/>
            <a:ext cx="8321040" cy="502920"/>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Organizations that focus only on technology use — without managing its risks — are setting themselves up for avoidable, costly failures. Here is what that looks like in practice:</a:t>
            </a:r>
            <a:endParaRPr lang="en-US" sz="1250" dirty="0"/>
          </a:p>
        </p:txBody>
      </p:sp>
      <p:sp>
        <p:nvSpPr>
          <p:cNvPr id="6" name="Shape 3"/>
          <p:cNvSpPr/>
          <p:nvPr/>
        </p:nvSpPr>
        <p:spPr>
          <a:xfrm>
            <a:off x="365760" y="1664208"/>
            <a:ext cx="8412480" cy="932688"/>
          </a:xfrm>
          <a:prstGeom prst="rect">
            <a:avLst/>
          </a:prstGeom>
          <a:solidFill>
            <a:srgbClr val="F5F5F5"/>
          </a:solidFill>
          <a:ln w="12700">
            <a:solidFill>
              <a:srgbClr val="DDDDDD"/>
            </a:solidFill>
            <a:prstDash val="solid"/>
          </a:ln>
        </p:spPr>
      </p:sp>
      <p:sp>
        <p:nvSpPr>
          <p:cNvPr id="7" name="Shape 4"/>
          <p:cNvSpPr/>
          <p:nvPr/>
        </p:nvSpPr>
        <p:spPr>
          <a:xfrm>
            <a:off x="365760" y="1664208"/>
            <a:ext cx="54864" cy="932688"/>
          </a:xfrm>
          <a:prstGeom prst="rect">
            <a:avLst/>
          </a:prstGeom>
          <a:solidFill>
            <a:srgbClr val="680001"/>
          </a:solidFill>
          <a:ln w="12700">
            <a:solidFill>
              <a:srgbClr val="680001"/>
            </a:solidFill>
            <a:prstDash val="solid"/>
          </a:ln>
        </p:spPr>
      </p:sp>
      <p:sp>
        <p:nvSpPr>
          <p:cNvPr id="8" name="Text 5"/>
          <p:cNvSpPr/>
          <p:nvPr/>
        </p:nvSpPr>
        <p:spPr>
          <a:xfrm>
            <a:off x="530352" y="1700784"/>
            <a:ext cx="8138160" cy="27432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The Company That Adopted Cloud Storage Without a Risk Assessment</a:t>
            </a:r>
            <a:endParaRPr lang="en-US" sz="1200" dirty="0"/>
          </a:p>
        </p:txBody>
      </p:sp>
      <p:sp>
        <p:nvSpPr>
          <p:cNvPr id="9" name="Text 6"/>
          <p:cNvSpPr/>
          <p:nvPr/>
        </p:nvSpPr>
        <p:spPr>
          <a:xfrm>
            <a:off x="530352" y="1975104"/>
            <a:ext cx="8092440" cy="27432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The Use: </a:t>
            </a:r>
            <a:pPr indent="0" marL="0">
              <a:buNone/>
            </a:pPr>
            <a:r>
              <a:rPr lang="en-US" sz="1050" dirty="0">
                <a:solidFill>
                  <a:srgbClr val="333333"/>
                </a:solidFill>
                <a:latin typeface="Calibri" pitchFamily="34" charset="0"/>
                <a:ea typeface="Calibri" pitchFamily="34" charset="-122"/>
                <a:cs typeface="Calibri" pitchFamily="34" charset="-120"/>
              </a:rPr>
              <a:t>A mid-size accounting firm migrated all client financial records to a cloud storage service to enable remote work.  </a:t>
            </a:r>
            <a:pPr indent="0" marL="0">
              <a:buNone/>
            </a:pPr>
            <a:r>
              <a:rPr lang="en-US" sz="1050" b="1" dirty="0">
                <a:solidFill>
                  <a:srgbClr val="B71C1C"/>
                </a:solidFill>
                <a:latin typeface="Calibri" pitchFamily="34" charset="0"/>
                <a:ea typeface="Calibri" pitchFamily="34" charset="-122"/>
                <a:cs typeface="Calibri" pitchFamily="34" charset="-120"/>
              </a:rPr>
              <a:t>The Risk Gap: </a:t>
            </a:r>
            <a:pPr indent="0" marL="0">
              <a:buNone/>
            </a:pPr>
            <a:r>
              <a:rPr lang="en-US" sz="1050" dirty="0">
                <a:solidFill>
                  <a:srgbClr val="333333"/>
                </a:solidFill>
                <a:latin typeface="Calibri" pitchFamily="34" charset="0"/>
                <a:ea typeface="Calibri" pitchFamily="34" charset="-122"/>
                <a:cs typeface="Calibri" pitchFamily="34" charset="-120"/>
              </a:rPr>
              <a:t>No one asked: Is this vendor secure? What happens if the vendor is breached? Are files encrypted in transit and at rest? Who in the firm has access?</a:t>
            </a:r>
            <a:endParaRPr lang="en-US" sz="1050" dirty="0"/>
          </a:p>
        </p:txBody>
      </p:sp>
      <p:sp>
        <p:nvSpPr>
          <p:cNvPr id="10" name="Text 7"/>
          <p:cNvSpPr/>
          <p:nvPr/>
        </p:nvSpPr>
        <p:spPr>
          <a:xfrm>
            <a:off x="530352" y="2267712"/>
            <a:ext cx="8092440" cy="256032"/>
          </a:xfrm>
          <a:prstGeom prst="rect">
            <a:avLst/>
          </a:prstGeom>
          <a:noFill/>
          <a:ln/>
        </p:spPr>
        <p:txBody>
          <a:bodyPr wrap="square" rtlCol="0" anchor="ctr"/>
          <a:lstStyle/>
          <a:p>
            <a:pPr indent="0" marL="0">
              <a:buNone/>
            </a:pPr>
            <a:r>
              <a:rPr lang="en-US" sz="1050" b="1" dirty="0">
                <a:solidFill>
                  <a:srgbClr val="B71C1C"/>
                </a:solidFill>
                <a:latin typeface="Calibri" pitchFamily="34" charset="0"/>
                <a:ea typeface="Calibri" pitchFamily="34" charset="-122"/>
                <a:cs typeface="Calibri" pitchFamily="34" charset="-120"/>
              </a:rPr>
              <a:t>⚠ Outcome: </a:t>
            </a:r>
            <a:pPr indent="0" marL="0">
              <a:buNone/>
            </a:pPr>
            <a:r>
              <a:rPr lang="en-US" sz="1050" i="1" dirty="0">
                <a:solidFill>
                  <a:srgbClr val="333333"/>
                </a:solidFill>
                <a:latin typeface="Calibri" pitchFamily="34" charset="0"/>
                <a:ea typeface="Calibri" pitchFamily="34" charset="-122"/>
                <a:cs typeface="Calibri" pitchFamily="34" charset="-120"/>
              </a:rPr>
              <a:t>Two years later, the vendor suffered a breach. 8,000 client tax returns — including Social Security numbers — were exposed. The firm faced GLBA violations and multiple client lawsuits.</a:t>
            </a:r>
            <a:endParaRPr lang="en-US" sz="1050" dirty="0"/>
          </a:p>
        </p:txBody>
      </p:sp>
      <p:sp>
        <p:nvSpPr>
          <p:cNvPr id="11" name="Shape 8"/>
          <p:cNvSpPr/>
          <p:nvPr/>
        </p:nvSpPr>
        <p:spPr>
          <a:xfrm>
            <a:off x="365760" y="2688336"/>
            <a:ext cx="8412480" cy="932688"/>
          </a:xfrm>
          <a:prstGeom prst="rect">
            <a:avLst/>
          </a:prstGeom>
          <a:solidFill>
            <a:srgbClr val="FFFFFF"/>
          </a:solidFill>
          <a:ln w="12700">
            <a:solidFill>
              <a:srgbClr val="DDDDDD"/>
            </a:solidFill>
            <a:prstDash val="solid"/>
          </a:ln>
        </p:spPr>
      </p:sp>
      <p:sp>
        <p:nvSpPr>
          <p:cNvPr id="12" name="Shape 9"/>
          <p:cNvSpPr/>
          <p:nvPr/>
        </p:nvSpPr>
        <p:spPr>
          <a:xfrm>
            <a:off x="365760" y="2688336"/>
            <a:ext cx="54864" cy="932688"/>
          </a:xfrm>
          <a:prstGeom prst="rect">
            <a:avLst/>
          </a:prstGeom>
          <a:solidFill>
            <a:srgbClr val="680001"/>
          </a:solidFill>
          <a:ln w="12700">
            <a:solidFill>
              <a:srgbClr val="680001"/>
            </a:solidFill>
            <a:prstDash val="solid"/>
          </a:ln>
        </p:spPr>
      </p:sp>
      <p:sp>
        <p:nvSpPr>
          <p:cNvPr id="13" name="Text 10"/>
          <p:cNvSpPr/>
          <p:nvPr/>
        </p:nvSpPr>
        <p:spPr>
          <a:xfrm>
            <a:off x="530352" y="2724912"/>
            <a:ext cx="8138160" cy="27432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The Hospital That Bought Medical Devices Without Checking Security</a:t>
            </a:r>
            <a:endParaRPr lang="en-US" sz="1200" dirty="0"/>
          </a:p>
        </p:txBody>
      </p:sp>
      <p:sp>
        <p:nvSpPr>
          <p:cNvPr id="14" name="Text 11"/>
          <p:cNvSpPr/>
          <p:nvPr/>
        </p:nvSpPr>
        <p:spPr>
          <a:xfrm>
            <a:off x="530352" y="2999232"/>
            <a:ext cx="8092440" cy="27432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The Use: </a:t>
            </a:r>
            <a:pPr indent="0" marL="0">
              <a:buNone/>
            </a:pPr>
            <a:r>
              <a:rPr lang="en-US" sz="1050" dirty="0">
                <a:solidFill>
                  <a:srgbClr val="333333"/>
                </a:solidFill>
                <a:latin typeface="Calibri" pitchFamily="34" charset="0"/>
                <a:ea typeface="Calibri" pitchFamily="34" charset="-122"/>
                <a:cs typeface="Calibri" pitchFamily="34" charset="-120"/>
              </a:rPr>
              <a:t>A hospital network purchased hundreds of connected patient monitors, infusion pumps, and imaging devices to modernize care.  </a:t>
            </a:r>
            <a:pPr indent="0" marL="0">
              <a:buNone/>
            </a:pPr>
            <a:r>
              <a:rPr lang="en-US" sz="1050" b="1" dirty="0">
                <a:solidFill>
                  <a:srgbClr val="B71C1C"/>
                </a:solidFill>
                <a:latin typeface="Calibri" pitchFamily="34" charset="0"/>
                <a:ea typeface="Calibri" pitchFamily="34" charset="-122"/>
                <a:cs typeface="Calibri" pitchFamily="34" charset="-120"/>
              </a:rPr>
              <a:t>The Risk Gap: </a:t>
            </a:r>
            <a:pPr indent="0" marL="0">
              <a:buNone/>
            </a:pPr>
            <a:r>
              <a:rPr lang="en-US" sz="1050" dirty="0">
                <a:solidFill>
                  <a:srgbClr val="333333"/>
                </a:solidFill>
                <a:latin typeface="Calibri" pitchFamily="34" charset="0"/>
                <a:ea typeface="Calibri" pitchFamily="34" charset="-122"/>
                <a:cs typeface="Calibri" pitchFamily="34" charset="-120"/>
              </a:rPr>
              <a:t>No one evaluated the devices' security posture. Most ran outdated operating systems with no patch support and communicated over unencrypted channels.</a:t>
            </a:r>
            <a:endParaRPr lang="en-US" sz="1050" dirty="0"/>
          </a:p>
        </p:txBody>
      </p:sp>
      <p:sp>
        <p:nvSpPr>
          <p:cNvPr id="15" name="Text 12"/>
          <p:cNvSpPr/>
          <p:nvPr/>
        </p:nvSpPr>
        <p:spPr>
          <a:xfrm>
            <a:off x="530352" y="3291840"/>
            <a:ext cx="8092440" cy="256032"/>
          </a:xfrm>
          <a:prstGeom prst="rect">
            <a:avLst/>
          </a:prstGeom>
          <a:noFill/>
          <a:ln/>
        </p:spPr>
        <p:txBody>
          <a:bodyPr wrap="square" rtlCol="0" anchor="ctr"/>
          <a:lstStyle/>
          <a:p>
            <a:pPr indent="0" marL="0">
              <a:buNone/>
            </a:pPr>
            <a:r>
              <a:rPr lang="en-US" sz="1050" b="1" dirty="0">
                <a:solidFill>
                  <a:srgbClr val="B71C1C"/>
                </a:solidFill>
                <a:latin typeface="Calibri" pitchFamily="34" charset="0"/>
                <a:ea typeface="Calibri" pitchFamily="34" charset="-122"/>
                <a:cs typeface="Calibri" pitchFamily="34" charset="-120"/>
              </a:rPr>
              <a:t>⚠ Outcome: </a:t>
            </a:r>
            <a:pPr indent="0" marL="0">
              <a:buNone/>
            </a:pPr>
            <a:r>
              <a:rPr lang="en-US" sz="1050" i="1" dirty="0">
                <a:solidFill>
                  <a:srgbClr val="333333"/>
                </a:solidFill>
                <a:latin typeface="Calibri" pitchFamily="34" charset="0"/>
                <a:ea typeface="Calibri" pitchFamily="34" charset="-122"/>
                <a:cs typeface="Calibri" pitchFamily="34" charset="-120"/>
              </a:rPr>
              <a:t>Attackers compromised the devices as entry points into the hospital network, eventually reaching EHR systems and demanding $2M in ransom.</a:t>
            </a:r>
            <a:endParaRPr lang="en-US" sz="1050" dirty="0"/>
          </a:p>
        </p:txBody>
      </p:sp>
      <p:sp>
        <p:nvSpPr>
          <p:cNvPr id="16" name="Shape 13"/>
          <p:cNvSpPr/>
          <p:nvPr/>
        </p:nvSpPr>
        <p:spPr>
          <a:xfrm>
            <a:off x="365760" y="3712464"/>
            <a:ext cx="8412480" cy="932688"/>
          </a:xfrm>
          <a:prstGeom prst="rect">
            <a:avLst/>
          </a:prstGeom>
          <a:solidFill>
            <a:srgbClr val="F5F5F5"/>
          </a:solidFill>
          <a:ln w="12700">
            <a:solidFill>
              <a:srgbClr val="DDDDDD"/>
            </a:solidFill>
            <a:prstDash val="solid"/>
          </a:ln>
        </p:spPr>
      </p:sp>
      <p:sp>
        <p:nvSpPr>
          <p:cNvPr id="17" name="Shape 14"/>
          <p:cNvSpPr/>
          <p:nvPr/>
        </p:nvSpPr>
        <p:spPr>
          <a:xfrm>
            <a:off x="365760" y="3712464"/>
            <a:ext cx="54864" cy="932688"/>
          </a:xfrm>
          <a:prstGeom prst="rect">
            <a:avLst/>
          </a:prstGeom>
          <a:solidFill>
            <a:srgbClr val="680001"/>
          </a:solidFill>
          <a:ln w="12700">
            <a:solidFill>
              <a:srgbClr val="680001"/>
            </a:solidFill>
            <a:prstDash val="solid"/>
          </a:ln>
        </p:spPr>
      </p:sp>
      <p:sp>
        <p:nvSpPr>
          <p:cNvPr id="18" name="Text 15"/>
          <p:cNvSpPr/>
          <p:nvPr/>
        </p:nvSpPr>
        <p:spPr>
          <a:xfrm>
            <a:off x="530352" y="3749040"/>
            <a:ext cx="8138160" cy="274320"/>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The University That Enabled Remote Access Without Multi-Factor Authentication</a:t>
            </a:r>
            <a:endParaRPr lang="en-US" sz="1200" dirty="0"/>
          </a:p>
        </p:txBody>
      </p:sp>
      <p:sp>
        <p:nvSpPr>
          <p:cNvPr id="19" name="Text 16"/>
          <p:cNvSpPr/>
          <p:nvPr/>
        </p:nvSpPr>
        <p:spPr>
          <a:xfrm>
            <a:off x="530352" y="4023360"/>
            <a:ext cx="8092440" cy="274320"/>
          </a:xfrm>
          <a:prstGeom prst="rect">
            <a:avLst/>
          </a:prstGeom>
          <a:noFill/>
          <a:ln/>
        </p:spPr>
        <p:txBody>
          <a:bodyPr wrap="square" rtlCol="0" anchor="ctr"/>
          <a:lstStyle/>
          <a:p>
            <a:pPr indent="0" marL="0">
              <a:buNone/>
            </a:pPr>
            <a:r>
              <a:rPr lang="en-US" sz="1050" b="1" dirty="0">
                <a:solidFill>
                  <a:srgbClr val="333333"/>
                </a:solidFill>
                <a:latin typeface="Calibri" pitchFamily="34" charset="0"/>
                <a:ea typeface="Calibri" pitchFamily="34" charset="-122"/>
                <a:cs typeface="Calibri" pitchFamily="34" charset="-120"/>
              </a:rPr>
              <a:t>The Use: </a:t>
            </a:r>
            <a:pPr indent="0" marL="0">
              <a:buNone/>
            </a:pPr>
            <a:r>
              <a:rPr lang="en-US" sz="1050" dirty="0">
                <a:solidFill>
                  <a:srgbClr val="333333"/>
                </a:solidFill>
                <a:latin typeface="Calibri" pitchFamily="34" charset="0"/>
                <a:ea typeface="Calibri" pitchFamily="34" charset="-122"/>
                <a:cs typeface="Calibri" pitchFamily="34" charset="-120"/>
              </a:rPr>
              <a:t>A university expanded remote access to its internal systems during a shift to hybrid work and online classes.  </a:t>
            </a:r>
            <a:pPr indent="0" marL="0">
              <a:buNone/>
            </a:pPr>
            <a:r>
              <a:rPr lang="en-US" sz="1050" b="1" dirty="0">
                <a:solidFill>
                  <a:srgbClr val="B71C1C"/>
                </a:solidFill>
                <a:latin typeface="Calibri" pitchFamily="34" charset="0"/>
                <a:ea typeface="Calibri" pitchFamily="34" charset="-122"/>
                <a:cs typeface="Calibri" pitchFamily="34" charset="-120"/>
              </a:rPr>
              <a:t>The Risk Gap: </a:t>
            </a:r>
            <a:pPr indent="0" marL="0">
              <a:buNone/>
            </a:pPr>
            <a:r>
              <a:rPr lang="en-US" sz="1050" dirty="0">
                <a:solidFill>
                  <a:srgbClr val="333333"/>
                </a:solidFill>
                <a:latin typeface="Calibri" pitchFamily="34" charset="0"/>
                <a:ea typeface="Calibri" pitchFamily="34" charset="-122"/>
                <a:cs typeface="Calibri" pitchFamily="34" charset="-120"/>
              </a:rPr>
              <a:t>Single-factor authentication (username and password only) was used. No one assessed the increased exposure from thousands of off-campus connections.</a:t>
            </a:r>
            <a:endParaRPr lang="en-US" sz="1050" dirty="0"/>
          </a:p>
        </p:txBody>
      </p:sp>
      <p:sp>
        <p:nvSpPr>
          <p:cNvPr id="20" name="Text 17"/>
          <p:cNvSpPr/>
          <p:nvPr/>
        </p:nvSpPr>
        <p:spPr>
          <a:xfrm>
            <a:off x="530352" y="4315968"/>
            <a:ext cx="8092440" cy="256032"/>
          </a:xfrm>
          <a:prstGeom prst="rect">
            <a:avLst/>
          </a:prstGeom>
          <a:noFill/>
          <a:ln/>
        </p:spPr>
        <p:txBody>
          <a:bodyPr wrap="square" rtlCol="0" anchor="ctr"/>
          <a:lstStyle/>
          <a:p>
            <a:pPr indent="0" marL="0">
              <a:buNone/>
            </a:pPr>
            <a:r>
              <a:rPr lang="en-US" sz="1050" b="1" dirty="0">
                <a:solidFill>
                  <a:srgbClr val="B71C1C"/>
                </a:solidFill>
                <a:latin typeface="Calibri" pitchFamily="34" charset="0"/>
                <a:ea typeface="Calibri" pitchFamily="34" charset="-122"/>
                <a:cs typeface="Calibri" pitchFamily="34" charset="-120"/>
              </a:rPr>
              <a:t>⚠ Outcome: </a:t>
            </a:r>
            <a:pPr indent="0" marL="0">
              <a:buNone/>
            </a:pPr>
            <a:r>
              <a:rPr lang="en-US" sz="1050" i="1" dirty="0">
                <a:solidFill>
                  <a:srgbClr val="333333"/>
                </a:solidFill>
                <a:latin typeface="Calibri" pitchFamily="34" charset="0"/>
                <a:ea typeface="Calibri" pitchFamily="34" charset="-122"/>
                <a:cs typeface="Calibri" pitchFamily="34" charset="-120"/>
              </a:rPr>
              <a:t>Attackers used credential-stuffing tools to compromise faculty accounts and access student records, financial aid data, and research files.</a:t>
            </a:r>
            <a:endParaRPr lang="en-US" sz="1050" dirty="0"/>
          </a:p>
        </p:txBody>
      </p:sp>
      <p:sp>
        <p:nvSpPr>
          <p:cNvPr id="21" name="Shape 18"/>
          <p:cNvSpPr/>
          <p:nvPr/>
        </p:nvSpPr>
        <p:spPr>
          <a:xfrm>
            <a:off x="0" y="4800600"/>
            <a:ext cx="9144000" cy="342900"/>
          </a:xfrm>
          <a:prstGeom prst="rect">
            <a:avLst/>
          </a:prstGeom>
          <a:solidFill>
            <a:srgbClr val="680001"/>
          </a:solidFill>
          <a:ln w="12700">
            <a:solidFill>
              <a:srgbClr val="680001"/>
            </a:solidFill>
            <a:prstDash val="solid"/>
          </a:ln>
        </p:spPr>
      </p:sp>
      <p:sp>
        <p:nvSpPr>
          <p:cNvPr id="22" name="Text 19"/>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23" name="Text 20"/>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How Disruptions Ripple — Systems, Devices, and Data</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Text 2"/>
          <p:cNvSpPr/>
          <p:nvPr/>
        </p:nvSpPr>
        <p:spPr>
          <a:xfrm>
            <a:off x="411480" y="1078992"/>
            <a:ext cx="8321040" cy="475488"/>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When systems, devices, or data are compromised, the effects do not stay contained to the IT department. They spread rapidly across three dimensions of organizational health:</a:t>
            </a:r>
            <a:endParaRPr lang="en-US" sz="1250" dirty="0"/>
          </a:p>
        </p:txBody>
      </p:sp>
      <p:sp>
        <p:nvSpPr>
          <p:cNvPr id="6" name="Shape 3"/>
          <p:cNvSpPr/>
          <p:nvPr/>
        </p:nvSpPr>
        <p:spPr>
          <a:xfrm>
            <a:off x="320040" y="1664208"/>
            <a:ext cx="2743200" cy="299923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7" name="Shape 4"/>
          <p:cNvSpPr/>
          <p:nvPr/>
        </p:nvSpPr>
        <p:spPr>
          <a:xfrm>
            <a:off x="320040" y="1664208"/>
            <a:ext cx="2743200" cy="502920"/>
          </a:xfrm>
          <a:prstGeom prst="rect">
            <a:avLst/>
          </a:prstGeom>
          <a:solidFill>
            <a:srgbClr val="680001"/>
          </a:solidFill>
          <a:ln w="12700">
            <a:solidFill>
              <a:srgbClr val="680001"/>
            </a:solidFill>
            <a:prstDash val="solid"/>
          </a:ln>
        </p:spPr>
      </p:sp>
      <p:sp>
        <p:nvSpPr>
          <p:cNvPr id="8" name="Text 5"/>
          <p:cNvSpPr/>
          <p:nvPr/>
        </p:nvSpPr>
        <p:spPr>
          <a:xfrm>
            <a:off x="411480" y="1664208"/>
            <a:ext cx="25603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System Disruption</a:t>
            </a:r>
            <a:endParaRPr lang="en-US" sz="1400" dirty="0"/>
          </a:p>
        </p:txBody>
      </p:sp>
      <p:sp>
        <p:nvSpPr>
          <p:cNvPr id="9" name="Text 6"/>
          <p:cNvSpPr/>
          <p:nvPr/>
        </p:nvSpPr>
        <p:spPr>
          <a:xfrm>
            <a:off x="429768" y="2212848"/>
            <a:ext cx="2523744" cy="237744"/>
          </a:xfrm>
          <a:prstGeom prst="rect">
            <a:avLst/>
          </a:prstGeom>
          <a:noFill/>
          <a:ln/>
        </p:spPr>
        <p:txBody>
          <a:bodyPr wrap="square" rtlCol="0" anchor="ctr"/>
          <a:lstStyle/>
          <a:p>
            <a:pPr indent="0" marL="0">
              <a:buNone/>
            </a:pPr>
            <a:r>
              <a:rPr lang="en-US" sz="1150" b="1" dirty="0">
                <a:solidFill>
                  <a:srgbClr val="1A4A8A"/>
                </a:solidFill>
                <a:latin typeface="Calibri" pitchFamily="34" charset="0"/>
                <a:ea typeface="Calibri" pitchFamily="34" charset="-122"/>
                <a:cs typeface="Calibri" pitchFamily="34" charset="-120"/>
              </a:rPr>
              <a:t>⚙ Operations</a:t>
            </a:r>
            <a:endParaRPr lang="en-US" sz="1150" dirty="0"/>
          </a:p>
        </p:txBody>
      </p:sp>
      <p:sp>
        <p:nvSpPr>
          <p:cNvPr id="10" name="Text 7"/>
          <p:cNvSpPr/>
          <p:nvPr/>
        </p:nvSpPr>
        <p:spPr>
          <a:xfrm>
            <a:off x="429768" y="2450592"/>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Core processes halt. Staff revert to manual workarounds that are slower, error-prone, and not scalable. Customer-facing services go down.</a:t>
            </a:r>
            <a:endParaRPr lang="en-US" sz="1050" dirty="0"/>
          </a:p>
        </p:txBody>
      </p:sp>
      <p:sp>
        <p:nvSpPr>
          <p:cNvPr id="11" name="Text 8"/>
          <p:cNvSpPr/>
          <p:nvPr/>
        </p:nvSpPr>
        <p:spPr>
          <a:xfrm>
            <a:off x="429768" y="3017520"/>
            <a:ext cx="2523744" cy="237744"/>
          </a:xfrm>
          <a:prstGeom prst="rect">
            <a:avLst/>
          </a:prstGeom>
          <a:noFill/>
          <a:ln/>
        </p:spPr>
        <p:txBody>
          <a:bodyPr wrap="square" rtlCol="0" anchor="ctr"/>
          <a:lstStyle/>
          <a:p>
            <a:pPr indent="0" marL="0">
              <a:buNone/>
            </a:pPr>
            <a:r>
              <a:rPr lang="en-US" sz="1150" b="1" dirty="0">
                <a:solidFill>
                  <a:srgbClr val="1A6A1A"/>
                </a:solidFill>
                <a:latin typeface="Calibri" pitchFamily="34" charset="0"/>
                <a:ea typeface="Calibri" pitchFamily="34" charset="-122"/>
                <a:cs typeface="Calibri" pitchFamily="34" charset="-120"/>
              </a:rPr>
              <a:t>💰 Financial</a:t>
            </a:r>
            <a:endParaRPr lang="en-US" sz="1150" dirty="0"/>
          </a:p>
        </p:txBody>
      </p:sp>
      <p:sp>
        <p:nvSpPr>
          <p:cNvPr id="12" name="Text 9"/>
          <p:cNvSpPr/>
          <p:nvPr/>
        </p:nvSpPr>
        <p:spPr>
          <a:xfrm>
            <a:off x="429768" y="3255264"/>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Every hour of downtime has a direct revenue cost. Gartner estimates average downtime costs $5,600 per minute for large enterprises.</a:t>
            </a:r>
            <a:endParaRPr lang="en-US" sz="1050" dirty="0"/>
          </a:p>
        </p:txBody>
      </p:sp>
      <p:sp>
        <p:nvSpPr>
          <p:cNvPr id="13" name="Text 10"/>
          <p:cNvSpPr/>
          <p:nvPr/>
        </p:nvSpPr>
        <p:spPr>
          <a:xfrm>
            <a:off x="429768" y="3822192"/>
            <a:ext cx="2523744" cy="237744"/>
          </a:xfrm>
          <a:prstGeom prst="rect">
            <a:avLst/>
          </a:prstGeom>
          <a:noFill/>
          <a:ln/>
        </p:spPr>
        <p:txBody>
          <a:bodyPr wrap="square" rtlCol="0" anchor="ctr"/>
          <a:lstStyle/>
          <a:p>
            <a:pPr indent="0" marL="0">
              <a:buNone/>
            </a:pPr>
            <a:r>
              <a:rPr lang="en-US" sz="1150" b="1" dirty="0">
                <a:solidFill>
                  <a:srgbClr val="B71C1C"/>
                </a:solidFill>
                <a:latin typeface="Calibri" pitchFamily="34" charset="0"/>
                <a:ea typeface="Calibri" pitchFamily="34" charset="-122"/>
                <a:cs typeface="Calibri" pitchFamily="34" charset="-120"/>
              </a:rPr>
              <a:t>🏢 Reputation</a:t>
            </a:r>
            <a:endParaRPr lang="en-US" sz="1150" dirty="0"/>
          </a:p>
        </p:txBody>
      </p:sp>
      <p:sp>
        <p:nvSpPr>
          <p:cNvPr id="14" name="Text 11"/>
          <p:cNvSpPr/>
          <p:nvPr/>
        </p:nvSpPr>
        <p:spPr>
          <a:xfrm>
            <a:off x="429768" y="4059936"/>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Customers, partners, and media notice outages quickly. Public-facing failures become news stories. Competitors gain ground.</a:t>
            </a:r>
            <a:endParaRPr lang="en-US" sz="1050" dirty="0"/>
          </a:p>
        </p:txBody>
      </p:sp>
      <p:sp>
        <p:nvSpPr>
          <p:cNvPr id="15" name="Shape 12"/>
          <p:cNvSpPr/>
          <p:nvPr/>
        </p:nvSpPr>
        <p:spPr>
          <a:xfrm>
            <a:off x="3246120" y="1664208"/>
            <a:ext cx="2743200" cy="299923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6" name="Shape 13"/>
          <p:cNvSpPr/>
          <p:nvPr/>
        </p:nvSpPr>
        <p:spPr>
          <a:xfrm>
            <a:off x="3246120" y="1664208"/>
            <a:ext cx="2743200" cy="502920"/>
          </a:xfrm>
          <a:prstGeom prst="rect">
            <a:avLst/>
          </a:prstGeom>
          <a:solidFill>
            <a:srgbClr val="680001"/>
          </a:solidFill>
          <a:ln w="12700">
            <a:solidFill>
              <a:srgbClr val="680001"/>
            </a:solidFill>
            <a:prstDash val="solid"/>
          </a:ln>
        </p:spPr>
      </p:sp>
      <p:sp>
        <p:nvSpPr>
          <p:cNvPr id="17" name="Text 14"/>
          <p:cNvSpPr/>
          <p:nvPr/>
        </p:nvSpPr>
        <p:spPr>
          <a:xfrm>
            <a:off x="3337560" y="1664208"/>
            <a:ext cx="25603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Device Compromise</a:t>
            </a:r>
            <a:endParaRPr lang="en-US" sz="1400" dirty="0"/>
          </a:p>
        </p:txBody>
      </p:sp>
      <p:sp>
        <p:nvSpPr>
          <p:cNvPr id="18" name="Text 15"/>
          <p:cNvSpPr/>
          <p:nvPr/>
        </p:nvSpPr>
        <p:spPr>
          <a:xfrm>
            <a:off x="3355848" y="2212848"/>
            <a:ext cx="2523744" cy="237744"/>
          </a:xfrm>
          <a:prstGeom prst="rect">
            <a:avLst/>
          </a:prstGeom>
          <a:noFill/>
          <a:ln/>
        </p:spPr>
        <p:txBody>
          <a:bodyPr wrap="square" rtlCol="0" anchor="ctr"/>
          <a:lstStyle/>
          <a:p>
            <a:pPr indent="0" marL="0">
              <a:buNone/>
            </a:pPr>
            <a:r>
              <a:rPr lang="en-US" sz="1150" b="1" dirty="0">
                <a:solidFill>
                  <a:srgbClr val="1A4A8A"/>
                </a:solidFill>
                <a:latin typeface="Calibri" pitchFamily="34" charset="0"/>
                <a:ea typeface="Calibri" pitchFamily="34" charset="-122"/>
                <a:cs typeface="Calibri" pitchFamily="34" charset="-120"/>
              </a:rPr>
              <a:t>⚙ Operations</a:t>
            </a:r>
            <a:endParaRPr lang="en-US" sz="1150" dirty="0"/>
          </a:p>
        </p:txBody>
      </p:sp>
      <p:sp>
        <p:nvSpPr>
          <p:cNvPr id="19" name="Text 16"/>
          <p:cNvSpPr/>
          <p:nvPr/>
        </p:nvSpPr>
        <p:spPr>
          <a:xfrm>
            <a:off x="3355848" y="2450592"/>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Infected endpoints spread malware to connected systems. A single compromised laptop can become the entry point to the entire network.</a:t>
            </a:r>
            <a:endParaRPr lang="en-US" sz="1050" dirty="0"/>
          </a:p>
        </p:txBody>
      </p:sp>
      <p:sp>
        <p:nvSpPr>
          <p:cNvPr id="20" name="Text 17"/>
          <p:cNvSpPr/>
          <p:nvPr/>
        </p:nvSpPr>
        <p:spPr>
          <a:xfrm>
            <a:off x="3355848" y="3017520"/>
            <a:ext cx="2523744" cy="237744"/>
          </a:xfrm>
          <a:prstGeom prst="rect">
            <a:avLst/>
          </a:prstGeom>
          <a:noFill/>
          <a:ln/>
        </p:spPr>
        <p:txBody>
          <a:bodyPr wrap="square" rtlCol="0" anchor="ctr"/>
          <a:lstStyle/>
          <a:p>
            <a:pPr indent="0" marL="0">
              <a:buNone/>
            </a:pPr>
            <a:r>
              <a:rPr lang="en-US" sz="1150" b="1" dirty="0">
                <a:solidFill>
                  <a:srgbClr val="1A6A1A"/>
                </a:solidFill>
                <a:latin typeface="Calibri" pitchFamily="34" charset="0"/>
                <a:ea typeface="Calibri" pitchFamily="34" charset="-122"/>
                <a:cs typeface="Calibri" pitchFamily="34" charset="-120"/>
              </a:rPr>
              <a:t>💰 Financial</a:t>
            </a:r>
            <a:endParaRPr lang="en-US" sz="1150" dirty="0"/>
          </a:p>
        </p:txBody>
      </p:sp>
      <p:sp>
        <p:nvSpPr>
          <p:cNvPr id="21" name="Text 18"/>
          <p:cNvSpPr/>
          <p:nvPr/>
        </p:nvSpPr>
        <p:spPr>
          <a:xfrm>
            <a:off x="3355848" y="3255264"/>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Forensic investigation, device replacement, and remediation labor are costly. Legal fees mount if the compromised device held sensitive data.</a:t>
            </a:r>
            <a:endParaRPr lang="en-US" sz="1050" dirty="0"/>
          </a:p>
        </p:txBody>
      </p:sp>
      <p:sp>
        <p:nvSpPr>
          <p:cNvPr id="22" name="Text 19"/>
          <p:cNvSpPr/>
          <p:nvPr/>
        </p:nvSpPr>
        <p:spPr>
          <a:xfrm>
            <a:off x="3355848" y="3822192"/>
            <a:ext cx="2523744" cy="237744"/>
          </a:xfrm>
          <a:prstGeom prst="rect">
            <a:avLst/>
          </a:prstGeom>
          <a:noFill/>
          <a:ln/>
        </p:spPr>
        <p:txBody>
          <a:bodyPr wrap="square" rtlCol="0" anchor="ctr"/>
          <a:lstStyle/>
          <a:p>
            <a:pPr indent="0" marL="0">
              <a:buNone/>
            </a:pPr>
            <a:r>
              <a:rPr lang="en-US" sz="1150" b="1" dirty="0">
                <a:solidFill>
                  <a:srgbClr val="B71C1C"/>
                </a:solidFill>
                <a:latin typeface="Calibri" pitchFamily="34" charset="0"/>
                <a:ea typeface="Calibri" pitchFamily="34" charset="-122"/>
                <a:cs typeface="Calibri" pitchFamily="34" charset="-120"/>
              </a:rPr>
              <a:t>🏢 Reputation</a:t>
            </a:r>
            <a:endParaRPr lang="en-US" sz="1150" dirty="0"/>
          </a:p>
        </p:txBody>
      </p:sp>
      <p:sp>
        <p:nvSpPr>
          <p:cNvPr id="23" name="Text 20"/>
          <p:cNvSpPr/>
          <p:nvPr/>
        </p:nvSpPr>
        <p:spPr>
          <a:xfrm>
            <a:off x="3355848" y="4059936"/>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If a compromised device leads to a breach, all public consequences of that breach become tied to the initial device failure.</a:t>
            </a:r>
            <a:endParaRPr lang="en-US" sz="1050" dirty="0"/>
          </a:p>
        </p:txBody>
      </p:sp>
      <p:sp>
        <p:nvSpPr>
          <p:cNvPr id="24" name="Shape 21"/>
          <p:cNvSpPr/>
          <p:nvPr/>
        </p:nvSpPr>
        <p:spPr>
          <a:xfrm>
            <a:off x="6172200" y="1664208"/>
            <a:ext cx="2743200" cy="2999232"/>
          </a:xfrm>
          <a:prstGeom prst="rect">
            <a:avLst/>
          </a:prstGeom>
          <a:solidFill>
            <a:srgbClr val="F5F5F5"/>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25" name="Shape 22"/>
          <p:cNvSpPr/>
          <p:nvPr/>
        </p:nvSpPr>
        <p:spPr>
          <a:xfrm>
            <a:off x="6172200" y="1664208"/>
            <a:ext cx="2743200" cy="502920"/>
          </a:xfrm>
          <a:prstGeom prst="rect">
            <a:avLst/>
          </a:prstGeom>
          <a:solidFill>
            <a:srgbClr val="680001"/>
          </a:solidFill>
          <a:ln w="12700">
            <a:solidFill>
              <a:srgbClr val="680001"/>
            </a:solidFill>
            <a:prstDash val="solid"/>
          </a:ln>
        </p:spPr>
      </p:sp>
      <p:sp>
        <p:nvSpPr>
          <p:cNvPr id="26" name="Text 23"/>
          <p:cNvSpPr/>
          <p:nvPr/>
        </p:nvSpPr>
        <p:spPr>
          <a:xfrm>
            <a:off x="6263640" y="1664208"/>
            <a:ext cx="25603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Data Loss or Corruption</a:t>
            </a:r>
            <a:endParaRPr lang="en-US" sz="1400" dirty="0"/>
          </a:p>
        </p:txBody>
      </p:sp>
      <p:sp>
        <p:nvSpPr>
          <p:cNvPr id="27" name="Text 24"/>
          <p:cNvSpPr/>
          <p:nvPr/>
        </p:nvSpPr>
        <p:spPr>
          <a:xfrm>
            <a:off x="6281928" y="2212848"/>
            <a:ext cx="2523744" cy="237744"/>
          </a:xfrm>
          <a:prstGeom prst="rect">
            <a:avLst/>
          </a:prstGeom>
          <a:noFill/>
          <a:ln/>
        </p:spPr>
        <p:txBody>
          <a:bodyPr wrap="square" rtlCol="0" anchor="ctr"/>
          <a:lstStyle/>
          <a:p>
            <a:pPr indent="0" marL="0">
              <a:buNone/>
            </a:pPr>
            <a:r>
              <a:rPr lang="en-US" sz="1150" b="1" dirty="0">
                <a:solidFill>
                  <a:srgbClr val="1A4A8A"/>
                </a:solidFill>
                <a:latin typeface="Calibri" pitchFamily="34" charset="0"/>
                <a:ea typeface="Calibri" pitchFamily="34" charset="-122"/>
                <a:cs typeface="Calibri" pitchFamily="34" charset="-120"/>
              </a:rPr>
              <a:t>⚙ Operations</a:t>
            </a:r>
            <a:endParaRPr lang="en-US" sz="1150" dirty="0"/>
          </a:p>
        </p:txBody>
      </p:sp>
      <p:sp>
        <p:nvSpPr>
          <p:cNvPr id="28" name="Text 25"/>
          <p:cNvSpPr/>
          <p:nvPr/>
        </p:nvSpPr>
        <p:spPr>
          <a:xfrm>
            <a:off x="6281928" y="2450592"/>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Decisions made on corrupted or unavailable data lead to operational errors — wrong orders filled, wrong medications dispensed, wrong payroll amounts paid.</a:t>
            </a:r>
            <a:endParaRPr lang="en-US" sz="1050" dirty="0"/>
          </a:p>
        </p:txBody>
      </p:sp>
      <p:sp>
        <p:nvSpPr>
          <p:cNvPr id="29" name="Text 26"/>
          <p:cNvSpPr/>
          <p:nvPr/>
        </p:nvSpPr>
        <p:spPr>
          <a:xfrm>
            <a:off x="6281928" y="3017520"/>
            <a:ext cx="2523744" cy="237744"/>
          </a:xfrm>
          <a:prstGeom prst="rect">
            <a:avLst/>
          </a:prstGeom>
          <a:noFill/>
          <a:ln/>
        </p:spPr>
        <p:txBody>
          <a:bodyPr wrap="square" rtlCol="0" anchor="ctr"/>
          <a:lstStyle/>
          <a:p>
            <a:pPr indent="0" marL="0">
              <a:buNone/>
            </a:pPr>
            <a:r>
              <a:rPr lang="en-US" sz="1150" b="1" dirty="0">
                <a:solidFill>
                  <a:srgbClr val="1A6A1A"/>
                </a:solidFill>
                <a:latin typeface="Calibri" pitchFamily="34" charset="0"/>
                <a:ea typeface="Calibri" pitchFamily="34" charset="-122"/>
                <a:cs typeface="Calibri" pitchFamily="34" charset="-120"/>
              </a:rPr>
              <a:t>💰 Financial</a:t>
            </a:r>
            <a:endParaRPr lang="en-US" sz="1150" dirty="0"/>
          </a:p>
        </p:txBody>
      </p:sp>
      <p:sp>
        <p:nvSpPr>
          <p:cNvPr id="30" name="Text 27"/>
          <p:cNvSpPr/>
          <p:nvPr/>
        </p:nvSpPr>
        <p:spPr>
          <a:xfrm>
            <a:off x="6281928" y="3255264"/>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Regulatory fines for lost data can be severe. Restoring data from backups (if they exist) requires significant staff time and sometimes specialized vendors.</a:t>
            </a:r>
            <a:endParaRPr lang="en-US" sz="1050" dirty="0"/>
          </a:p>
        </p:txBody>
      </p:sp>
      <p:sp>
        <p:nvSpPr>
          <p:cNvPr id="31" name="Text 28"/>
          <p:cNvSpPr/>
          <p:nvPr/>
        </p:nvSpPr>
        <p:spPr>
          <a:xfrm>
            <a:off x="6281928" y="3822192"/>
            <a:ext cx="2523744" cy="237744"/>
          </a:xfrm>
          <a:prstGeom prst="rect">
            <a:avLst/>
          </a:prstGeom>
          <a:noFill/>
          <a:ln/>
        </p:spPr>
        <p:txBody>
          <a:bodyPr wrap="square" rtlCol="0" anchor="ctr"/>
          <a:lstStyle/>
          <a:p>
            <a:pPr indent="0" marL="0">
              <a:buNone/>
            </a:pPr>
            <a:r>
              <a:rPr lang="en-US" sz="1150" b="1" dirty="0">
                <a:solidFill>
                  <a:srgbClr val="B71C1C"/>
                </a:solidFill>
                <a:latin typeface="Calibri" pitchFamily="34" charset="0"/>
                <a:ea typeface="Calibri" pitchFamily="34" charset="-122"/>
                <a:cs typeface="Calibri" pitchFamily="34" charset="-120"/>
              </a:rPr>
              <a:t>🏢 Reputation</a:t>
            </a:r>
            <a:endParaRPr lang="en-US" sz="1150" dirty="0"/>
          </a:p>
        </p:txBody>
      </p:sp>
      <p:sp>
        <p:nvSpPr>
          <p:cNvPr id="32" name="Text 29"/>
          <p:cNvSpPr/>
          <p:nvPr/>
        </p:nvSpPr>
        <p:spPr>
          <a:xfrm>
            <a:off x="6281928" y="4059936"/>
            <a:ext cx="2523744" cy="530352"/>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Data loss signals to the market that the organization cannot be trusted as a steward of sensitive information — a hard reputation to rebuild.</a:t>
            </a:r>
            <a:endParaRPr lang="en-US" sz="1050" dirty="0"/>
          </a:p>
        </p:txBody>
      </p:sp>
      <p:sp>
        <p:nvSpPr>
          <p:cNvPr id="33" name="Shape 30"/>
          <p:cNvSpPr/>
          <p:nvPr/>
        </p:nvSpPr>
        <p:spPr>
          <a:xfrm>
            <a:off x="0" y="4800600"/>
            <a:ext cx="9144000" cy="342900"/>
          </a:xfrm>
          <a:prstGeom prst="rect">
            <a:avLst/>
          </a:prstGeom>
          <a:solidFill>
            <a:srgbClr val="680001"/>
          </a:solidFill>
          <a:ln w="12700">
            <a:solidFill>
              <a:srgbClr val="680001"/>
            </a:solidFill>
            <a:prstDash val="solid"/>
          </a:ln>
        </p:spPr>
      </p:sp>
      <p:sp>
        <p:nvSpPr>
          <p:cNvPr id="34" name="Text 31"/>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35" name="Text 32"/>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Module 1 · Key Terms</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Shape 2"/>
          <p:cNvSpPr/>
          <p:nvPr/>
        </p:nvSpPr>
        <p:spPr>
          <a:xfrm>
            <a:off x="365760" y="1097280"/>
            <a:ext cx="8412480" cy="420624"/>
          </a:xfrm>
          <a:prstGeom prst="rect">
            <a:avLst/>
          </a:prstGeom>
          <a:solidFill>
            <a:srgbClr val="F5F5F5"/>
          </a:solidFill>
          <a:ln w="12700">
            <a:solidFill>
              <a:srgbClr val="DDDDDD"/>
            </a:solidFill>
            <a:prstDash val="solid"/>
          </a:ln>
        </p:spPr>
      </p:sp>
      <p:sp>
        <p:nvSpPr>
          <p:cNvPr id="6" name="Text 3"/>
          <p:cNvSpPr/>
          <p:nvPr/>
        </p:nvSpPr>
        <p:spPr>
          <a:xfrm>
            <a:off x="502920" y="1133856"/>
            <a:ext cx="1783080" cy="347472"/>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CIA Triad</a:t>
            </a:r>
            <a:endParaRPr lang="en-US" sz="1200" dirty="0"/>
          </a:p>
        </p:txBody>
      </p:sp>
      <p:sp>
        <p:nvSpPr>
          <p:cNvPr id="7" name="Shape 4"/>
          <p:cNvSpPr/>
          <p:nvPr/>
        </p:nvSpPr>
        <p:spPr>
          <a:xfrm>
            <a:off x="2304288" y="1188720"/>
            <a:ext cx="18288" cy="237744"/>
          </a:xfrm>
          <a:prstGeom prst="rect">
            <a:avLst/>
          </a:prstGeom>
          <a:solidFill>
            <a:srgbClr val="DDDDDD"/>
          </a:solidFill>
          <a:ln w="12700">
            <a:solidFill>
              <a:srgbClr val="DDDDDD"/>
            </a:solidFill>
            <a:prstDash val="solid"/>
          </a:ln>
        </p:spPr>
      </p:sp>
      <p:sp>
        <p:nvSpPr>
          <p:cNvPr id="8" name="Text 5"/>
          <p:cNvSpPr/>
          <p:nvPr/>
        </p:nvSpPr>
        <p:spPr>
          <a:xfrm>
            <a:off x="2423160" y="1133856"/>
            <a:ext cx="6236208"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The three foundational pillars of information security: Confidentiality, Integrity, and Availability. Every security decision is evaluated against these three properties.</a:t>
            </a:r>
            <a:endParaRPr lang="en-US" sz="1150" dirty="0"/>
          </a:p>
        </p:txBody>
      </p:sp>
      <p:sp>
        <p:nvSpPr>
          <p:cNvPr id="9" name="Shape 6"/>
          <p:cNvSpPr/>
          <p:nvPr/>
        </p:nvSpPr>
        <p:spPr>
          <a:xfrm>
            <a:off x="365760" y="1572768"/>
            <a:ext cx="8412480" cy="420624"/>
          </a:xfrm>
          <a:prstGeom prst="rect">
            <a:avLst/>
          </a:prstGeom>
          <a:solidFill>
            <a:srgbClr val="FFFFFF"/>
          </a:solidFill>
          <a:ln w="12700">
            <a:solidFill>
              <a:srgbClr val="DDDDDD"/>
            </a:solidFill>
            <a:prstDash val="solid"/>
          </a:ln>
        </p:spPr>
      </p:sp>
      <p:sp>
        <p:nvSpPr>
          <p:cNvPr id="10" name="Text 7"/>
          <p:cNvSpPr/>
          <p:nvPr/>
        </p:nvSpPr>
        <p:spPr>
          <a:xfrm>
            <a:off x="502920" y="1609344"/>
            <a:ext cx="1783080" cy="347472"/>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Confidentiality</a:t>
            </a:r>
            <a:endParaRPr lang="en-US" sz="1200" dirty="0"/>
          </a:p>
        </p:txBody>
      </p:sp>
      <p:sp>
        <p:nvSpPr>
          <p:cNvPr id="11" name="Shape 8"/>
          <p:cNvSpPr/>
          <p:nvPr/>
        </p:nvSpPr>
        <p:spPr>
          <a:xfrm>
            <a:off x="2304288" y="1664208"/>
            <a:ext cx="18288" cy="237744"/>
          </a:xfrm>
          <a:prstGeom prst="rect">
            <a:avLst/>
          </a:prstGeom>
          <a:solidFill>
            <a:srgbClr val="DDDDDD"/>
          </a:solidFill>
          <a:ln w="12700">
            <a:solidFill>
              <a:srgbClr val="DDDDDD"/>
            </a:solidFill>
            <a:prstDash val="solid"/>
          </a:ln>
        </p:spPr>
      </p:sp>
      <p:sp>
        <p:nvSpPr>
          <p:cNvPr id="12" name="Text 9"/>
          <p:cNvSpPr/>
          <p:nvPr/>
        </p:nvSpPr>
        <p:spPr>
          <a:xfrm>
            <a:off x="2423160" y="1609344"/>
            <a:ext cx="6236208"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The principle that information is accessible only to those authorized to have it. Protected through access controls, encryption, and data classification.</a:t>
            </a:r>
            <a:endParaRPr lang="en-US" sz="1150" dirty="0"/>
          </a:p>
        </p:txBody>
      </p:sp>
      <p:sp>
        <p:nvSpPr>
          <p:cNvPr id="13" name="Shape 10"/>
          <p:cNvSpPr/>
          <p:nvPr/>
        </p:nvSpPr>
        <p:spPr>
          <a:xfrm>
            <a:off x="365760" y="2048256"/>
            <a:ext cx="8412480" cy="420624"/>
          </a:xfrm>
          <a:prstGeom prst="rect">
            <a:avLst/>
          </a:prstGeom>
          <a:solidFill>
            <a:srgbClr val="F5F5F5"/>
          </a:solidFill>
          <a:ln w="12700">
            <a:solidFill>
              <a:srgbClr val="DDDDDD"/>
            </a:solidFill>
            <a:prstDash val="solid"/>
          </a:ln>
        </p:spPr>
      </p:sp>
      <p:sp>
        <p:nvSpPr>
          <p:cNvPr id="14" name="Text 11"/>
          <p:cNvSpPr/>
          <p:nvPr/>
        </p:nvSpPr>
        <p:spPr>
          <a:xfrm>
            <a:off x="502920" y="2084832"/>
            <a:ext cx="1783080" cy="347472"/>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Integrity</a:t>
            </a:r>
            <a:endParaRPr lang="en-US" sz="1200" dirty="0"/>
          </a:p>
        </p:txBody>
      </p:sp>
      <p:sp>
        <p:nvSpPr>
          <p:cNvPr id="15" name="Shape 12"/>
          <p:cNvSpPr/>
          <p:nvPr/>
        </p:nvSpPr>
        <p:spPr>
          <a:xfrm>
            <a:off x="2304288" y="2139696"/>
            <a:ext cx="18288" cy="237744"/>
          </a:xfrm>
          <a:prstGeom prst="rect">
            <a:avLst/>
          </a:prstGeom>
          <a:solidFill>
            <a:srgbClr val="DDDDDD"/>
          </a:solidFill>
          <a:ln w="12700">
            <a:solidFill>
              <a:srgbClr val="DDDDDD"/>
            </a:solidFill>
            <a:prstDash val="solid"/>
          </a:ln>
        </p:spPr>
      </p:sp>
      <p:sp>
        <p:nvSpPr>
          <p:cNvPr id="16" name="Text 13"/>
          <p:cNvSpPr/>
          <p:nvPr/>
        </p:nvSpPr>
        <p:spPr>
          <a:xfrm>
            <a:off x="2423160" y="2084832"/>
            <a:ext cx="6236208"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The principle that information is accurate, complete, and has not been altered without authorization — by attackers, system errors, or unauthorized users.</a:t>
            </a:r>
            <a:endParaRPr lang="en-US" sz="1150" dirty="0"/>
          </a:p>
        </p:txBody>
      </p:sp>
      <p:sp>
        <p:nvSpPr>
          <p:cNvPr id="17" name="Shape 14"/>
          <p:cNvSpPr/>
          <p:nvPr/>
        </p:nvSpPr>
        <p:spPr>
          <a:xfrm>
            <a:off x="365760" y="2523744"/>
            <a:ext cx="8412480" cy="420624"/>
          </a:xfrm>
          <a:prstGeom prst="rect">
            <a:avLst/>
          </a:prstGeom>
          <a:solidFill>
            <a:srgbClr val="FFFFFF"/>
          </a:solidFill>
          <a:ln w="12700">
            <a:solidFill>
              <a:srgbClr val="DDDDDD"/>
            </a:solidFill>
            <a:prstDash val="solid"/>
          </a:ln>
        </p:spPr>
      </p:sp>
      <p:sp>
        <p:nvSpPr>
          <p:cNvPr id="18" name="Text 15"/>
          <p:cNvSpPr/>
          <p:nvPr/>
        </p:nvSpPr>
        <p:spPr>
          <a:xfrm>
            <a:off x="502920" y="2560320"/>
            <a:ext cx="1783080" cy="347472"/>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Availability</a:t>
            </a:r>
            <a:endParaRPr lang="en-US" sz="1200" dirty="0"/>
          </a:p>
        </p:txBody>
      </p:sp>
      <p:sp>
        <p:nvSpPr>
          <p:cNvPr id="19" name="Shape 16"/>
          <p:cNvSpPr/>
          <p:nvPr/>
        </p:nvSpPr>
        <p:spPr>
          <a:xfrm>
            <a:off x="2304288" y="2615184"/>
            <a:ext cx="18288" cy="237744"/>
          </a:xfrm>
          <a:prstGeom prst="rect">
            <a:avLst/>
          </a:prstGeom>
          <a:solidFill>
            <a:srgbClr val="DDDDDD"/>
          </a:solidFill>
          <a:ln w="12700">
            <a:solidFill>
              <a:srgbClr val="DDDDDD"/>
            </a:solidFill>
            <a:prstDash val="solid"/>
          </a:ln>
        </p:spPr>
      </p:sp>
      <p:sp>
        <p:nvSpPr>
          <p:cNvPr id="20" name="Text 17"/>
          <p:cNvSpPr/>
          <p:nvPr/>
        </p:nvSpPr>
        <p:spPr>
          <a:xfrm>
            <a:off x="2423160" y="2560320"/>
            <a:ext cx="6236208"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The principle that authorized users can access systems, services, and data when needed. Threatened by ransomware, DDoS attacks, hardware failure, and human error.</a:t>
            </a:r>
            <a:endParaRPr lang="en-US" sz="1150" dirty="0"/>
          </a:p>
        </p:txBody>
      </p:sp>
      <p:sp>
        <p:nvSpPr>
          <p:cNvPr id="21" name="Shape 18"/>
          <p:cNvSpPr/>
          <p:nvPr/>
        </p:nvSpPr>
        <p:spPr>
          <a:xfrm>
            <a:off x="365760" y="2999232"/>
            <a:ext cx="8412480" cy="420624"/>
          </a:xfrm>
          <a:prstGeom prst="rect">
            <a:avLst/>
          </a:prstGeom>
          <a:solidFill>
            <a:srgbClr val="F5F5F5"/>
          </a:solidFill>
          <a:ln w="12700">
            <a:solidFill>
              <a:srgbClr val="DDDDDD"/>
            </a:solidFill>
            <a:prstDash val="solid"/>
          </a:ln>
        </p:spPr>
      </p:sp>
      <p:sp>
        <p:nvSpPr>
          <p:cNvPr id="22" name="Text 19"/>
          <p:cNvSpPr/>
          <p:nvPr/>
        </p:nvSpPr>
        <p:spPr>
          <a:xfrm>
            <a:off x="502920" y="3035808"/>
            <a:ext cx="1783080" cy="347472"/>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IT Risk Management</a:t>
            </a:r>
            <a:endParaRPr lang="en-US" sz="1200" dirty="0"/>
          </a:p>
        </p:txBody>
      </p:sp>
      <p:sp>
        <p:nvSpPr>
          <p:cNvPr id="23" name="Shape 20"/>
          <p:cNvSpPr/>
          <p:nvPr/>
        </p:nvSpPr>
        <p:spPr>
          <a:xfrm>
            <a:off x="2304288" y="3090672"/>
            <a:ext cx="18288" cy="237744"/>
          </a:xfrm>
          <a:prstGeom prst="rect">
            <a:avLst/>
          </a:prstGeom>
          <a:solidFill>
            <a:srgbClr val="DDDDDD"/>
          </a:solidFill>
          <a:ln w="12700">
            <a:solidFill>
              <a:srgbClr val="DDDDDD"/>
            </a:solidFill>
            <a:prstDash val="solid"/>
          </a:ln>
        </p:spPr>
      </p:sp>
      <p:sp>
        <p:nvSpPr>
          <p:cNvPr id="24" name="Text 21"/>
          <p:cNvSpPr/>
          <p:nvPr/>
        </p:nvSpPr>
        <p:spPr>
          <a:xfrm>
            <a:off x="2423160" y="3035808"/>
            <a:ext cx="6236208"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The structured, ongoing process of identifying, analyzing, responding to, monitoring, and reporting on risks to an organization's technology systems and data.</a:t>
            </a:r>
            <a:endParaRPr lang="en-US" sz="1150" dirty="0"/>
          </a:p>
        </p:txBody>
      </p:sp>
      <p:sp>
        <p:nvSpPr>
          <p:cNvPr id="25" name="Shape 22"/>
          <p:cNvSpPr/>
          <p:nvPr/>
        </p:nvSpPr>
        <p:spPr>
          <a:xfrm>
            <a:off x="365760" y="3474720"/>
            <a:ext cx="8412480" cy="420624"/>
          </a:xfrm>
          <a:prstGeom prst="rect">
            <a:avLst/>
          </a:prstGeom>
          <a:solidFill>
            <a:srgbClr val="FFFFFF"/>
          </a:solidFill>
          <a:ln w="12700">
            <a:solidFill>
              <a:srgbClr val="DDDDDD"/>
            </a:solidFill>
            <a:prstDash val="solid"/>
          </a:ln>
        </p:spPr>
      </p:sp>
      <p:sp>
        <p:nvSpPr>
          <p:cNvPr id="26" name="Text 23"/>
          <p:cNvSpPr/>
          <p:nvPr/>
        </p:nvSpPr>
        <p:spPr>
          <a:xfrm>
            <a:off x="502920" y="3511296"/>
            <a:ext cx="1783080" cy="347472"/>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Ransomware</a:t>
            </a:r>
            <a:endParaRPr lang="en-US" sz="1200" dirty="0"/>
          </a:p>
        </p:txBody>
      </p:sp>
      <p:sp>
        <p:nvSpPr>
          <p:cNvPr id="27" name="Shape 24"/>
          <p:cNvSpPr/>
          <p:nvPr/>
        </p:nvSpPr>
        <p:spPr>
          <a:xfrm>
            <a:off x="2304288" y="3566160"/>
            <a:ext cx="18288" cy="237744"/>
          </a:xfrm>
          <a:prstGeom prst="rect">
            <a:avLst/>
          </a:prstGeom>
          <a:solidFill>
            <a:srgbClr val="DDDDDD"/>
          </a:solidFill>
          <a:ln w="12700">
            <a:solidFill>
              <a:srgbClr val="DDDDDD"/>
            </a:solidFill>
            <a:prstDash val="solid"/>
          </a:ln>
        </p:spPr>
      </p:sp>
      <p:sp>
        <p:nvSpPr>
          <p:cNvPr id="28" name="Text 25"/>
          <p:cNvSpPr/>
          <p:nvPr/>
        </p:nvSpPr>
        <p:spPr>
          <a:xfrm>
            <a:off x="2423160" y="3511296"/>
            <a:ext cx="6236208"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Malware that encrypts a victim's files and demands payment (ransom) for the decryption key. A primary threat to Availability in modern organizations.</a:t>
            </a:r>
            <a:endParaRPr lang="en-US" sz="1150" dirty="0"/>
          </a:p>
        </p:txBody>
      </p:sp>
      <p:sp>
        <p:nvSpPr>
          <p:cNvPr id="29" name="Shape 26"/>
          <p:cNvSpPr/>
          <p:nvPr/>
        </p:nvSpPr>
        <p:spPr>
          <a:xfrm>
            <a:off x="365760" y="3950208"/>
            <a:ext cx="8412480" cy="420624"/>
          </a:xfrm>
          <a:prstGeom prst="rect">
            <a:avLst/>
          </a:prstGeom>
          <a:solidFill>
            <a:srgbClr val="F5F5F5"/>
          </a:solidFill>
          <a:ln w="12700">
            <a:solidFill>
              <a:srgbClr val="DDDDDD"/>
            </a:solidFill>
            <a:prstDash val="solid"/>
          </a:ln>
        </p:spPr>
      </p:sp>
      <p:sp>
        <p:nvSpPr>
          <p:cNvPr id="30" name="Text 27"/>
          <p:cNvSpPr/>
          <p:nvPr/>
        </p:nvSpPr>
        <p:spPr>
          <a:xfrm>
            <a:off x="502920" y="3986784"/>
            <a:ext cx="1783080" cy="347472"/>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Attack Surface</a:t>
            </a:r>
            <a:endParaRPr lang="en-US" sz="1200" dirty="0"/>
          </a:p>
        </p:txBody>
      </p:sp>
      <p:sp>
        <p:nvSpPr>
          <p:cNvPr id="31" name="Shape 28"/>
          <p:cNvSpPr/>
          <p:nvPr/>
        </p:nvSpPr>
        <p:spPr>
          <a:xfrm>
            <a:off x="2304288" y="4041648"/>
            <a:ext cx="18288" cy="237744"/>
          </a:xfrm>
          <a:prstGeom prst="rect">
            <a:avLst/>
          </a:prstGeom>
          <a:solidFill>
            <a:srgbClr val="DDDDDD"/>
          </a:solidFill>
          <a:ln w="12700">
            <a:solidFill>
              <a:srgbClr val="DDDDDD"/>
            </a:solidFill>
            <a:prstDash val="solid"/>
          </a:ln>
        </p:spPr>
      </p:sp>
      <p:sp>
        <p:nvSpPr>
          <p:cNvPr id="32" name="Text 29"/>
          <p:cNvSpPr/>
          <p:nvPr/>
        </p:nvSpPr>
        <p:spPr>
          <a:xfrm>
            <a:off x="2423160" y="3986784"/>
            <a:ext cx="6236208"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The total set of possible points where an unauthorized user could enter or extract data from a system. Remote work, cloud services, and IoT devices all expand the attack surface.</a:t>
            </a:r>
            <a:endParaRPr lang="en-US" sz="1150" dirty="0"/>
          </a:p>
        </p:txBody>
      </p:sp>
      <p:sp>
        <p:nvSpPr>
          <p:cNvPr id="33" name="Shape 30"/>
          <p:cNvSpPr/>
          <p:nvPr/>
        </p:nvSpPr>
        <p:spPr>
          <a:xfrm>
            <a:off x="365760" y="4425696"/>
            <a:ext cx="8412480" cy="420624"/>
          </a:xfrm>
          <a:prstGeom prst="rect">
            <a:avLst/>
          </a:prstGeom>
          <a:solidFill>
            <a:srgbClr val="FFFFFF"/>
          </a:solidFill>
          <a:ln w="12700">
            <a:solidFill>
              <a:srgbClr val="DDDDDD"/>
            </a:solidFill>
            <a:prstDash val="solid"/>
          </a:ln>
        </p:spPr>
      </p:sp>
      <p:sp>
        <p:nvSpPr>
          <p:cNvPr id="34" name="Text 31"/>
          <p:cNvSpPr/>
          <p:nvPr/>
        </p:nvSpPr>
        <p:spPr>
          <a:xfrm>
            <a:off x="502920" y="4462272"/>
            <a:ext cx="1783080" cy="347472"/>
          </a:xfrm>
          <a:prstGeom prst="rect">
            <a:avLst/>
          </a:prstGeom>
          <a:noFill/>
          <a:ln/>
        </p:spPr>
        <p:txBody>
          <a:bodyPr wrap="square" rtlCol="0" anchor="ctr"/>
          <a:lstStyle/>
          <a:p>
            <a:pPr indent="0" marL="0">
              <a:buNone/>
            </a:pPr>
            <a:r>
              <a:rPr lang="en-US" sz="1200" b="1" dirty="0">
                <a:solidFill>
                  <a:srgbClr val="680001"/>
                </a:solidFill>
                <a:latin typeface="Calibri" pitchFamily="34" charset="0"/>
                <a:ea typeface="Calibri" pitchFamily="34" charset="-122"/>
                <a:cs typeface="Calibri" pitchFamily="34" charset="-120"/>
              </a:rPr>
              <a:t>Residual Risk</a:t>
            </a:r>
            <a:endParaRPr lang="en-US" sz="1200" dirty="0"/>
          </a:p>
        </p:txBody>
      </p:sp>
      <p:sp>
        <p:nvSpPr>
          <p:cNvPr id="35" name="Shape 32"/>
          <p:cNvSpPr/>
          <p:nvPr/>
        </p:nvSpPr>
        <p:spPr>
          <a:xfrm>
            <a:off x="2304288" y="4517136"/>
            <a:ext cx="18288" cy="237744"/>
          </a:xfrm>
          <a:prstGeom prst="rect">
            <a:avLst/>
          </a:prstGeom>
          <a:solidFill>
            <a:srgbClr val="DDDDDD"/>
          </a:solidFill>
          <a:ln w="12700">
            <a:solidFill>
              <a:srgbClr val="DDDDDD"/>
            </a:solidFill>
            <a:prstDash val="solid"/>
          </a:ln>
        </p:spPr>
      </p:sp>
      <p:sp>
        <p:nvSpPr>
          <p:cNvPr id="36" name="Text 33"/>
          <p:cNvSpPr/>
          <p:nvPr/>
        </p:nvSpPr>
        <p:spPr>
          <a:xfrm>
            <a:off x="2423160" y="4462272"/>
            <a:ext cx="6236208" cy="347472"/>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Risk that remains after controls and mitigations have been applied. The goal is not zero risk — it is risk reduced to an acceptable level.</a:t>
            </a:r>
            <a:endParaRPr lang="en-US" sz="1150" dirty="0"/>
          </a:p>
        </p:txBody>
      </p:sp>
      <p:sp>
        <p:nvSpPr>
          <p:cNvPr id="37" name="Shape 34"/>
          <p:cNvSpPr/>
          <p:nvPr/>
        </p:nvSpPr>
        <p:spPr>
          <a:xfrm>
            <a:off x="0" y="4800600"/>
            <a:ext cx="9144000" cy="342900"/>
          </a:xfrm>
          <a:prstGeom prst="rect">
            <a:avLst/>
          </a:prstGeom>
          <a:solidFill>
            <a:srgbClr val="680001"/>
          </a:solidFill>
          <a:ln w="12700">
            <a:solidFill>
              <a:srgbClr val="680001"/>
            </a:solidFill>
            <a:prstDash val="solid"/>
          </a:ln>
        </p:spPr>
      </p:sp>
      <p:sp>
        <p:nvSpPr>
          <p:cNvPr id="38" name="Text 35"/>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39" name="Text 36"/>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80001"/>
          </a:solidFill>
          <a:ln w="12700">
            <a:solidFill>
              <a:srgbClr val="680001"/>
            </a:solidFill>
            <a:prstDash val="solid"/>
          </a:ln>
        </p:spPr>
      </p:sp>
      <p:sp>
        <p:nvSpPr>
          <p:cNvPr id="3" name="Text 1"/>
          <p:cNvSpPr/>
          <p:nvPr/>
        </p:nvSpPr>
        <p:spPr>
          <a:xfrm>
            <a:off x="365760" y="91440"/>
            <a:ext cx="621792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This Week — Focus and Assignment</a:t>
            </a:r>
            <a:endParaRPr lang="en-US" sz="2600" dirty="0"/>
          </a:p>
        </p:txBody>
      </p:sp>
      <p:pic>
        <p:nvPicPr>
          <p:cNvPr id="4" name="Image 0" descr="/home/claude/unoh_logo.png">    </p:cNvPr>
          <p:cNvPicPr>
            <a:picLocks noChangeAspect="1"/>
          </p:cNvPicPr>
          <p:nvPr/>
        </p:nvPicPr>
        <p:blipFill>
          <a:blip r:embed="rId1"/>
          <a:srcRect l="0" r="0" t="0" b="0"/>
          <a:stretch/>
        </p:blipFill>
        <p:spPr>
          <a:xfrm>
            <a:off x="6675120" y="45720"/>
            <a:ext cx="2194560" cy="896112"/>
          </a:xfrm>
          <a:prstGeom prst="rect">
            <a:avLst/>
          </a:prstGeom>
        </p:spPr>
      </p:pic>
      <p:sp>
        <p:nvSpPr>
          <p:cNvPr id="5" name="Shape 2"/>
          <p:cNvSpPr/>
          <p:nvPr/>
        </p:nvSpPr>
        <p:spPr>
          <a:xfrm>
            <a:off x="365760" y="1078992"/>
            <a:ext cx="8412480" cy="640080"/>
          </a:xfrm>
          <a:prstGeom prst="rect">
            <a:avLst/>
          </a:prstGeom>
          <a:solidFill>
            <a:srgbClr val="F5F5F5"/>
          </a:solidFill>
          <a:ln w="12700">
            <a:solidFill>
              <a:srgbClr val="DDDDDD"/>
            </a:solidFill>
            <a:prstDash val="solid"/>
          </a:ln>
        </p:spPr>
      </p:sp>
      <p:sp>
        <p:nvSpPr>
          <p:cNvPr id="6" name="Text 3"/>
          <p:cNvSpPr/>
          <p:nvPr/>
        </p:nvSpPr>
        <p:spPr>
          <a:xfrm>
            <a:off x="530352" y="1097280"/>
            <a:ext cx="8092440" cy="603504"/>
          </a:xfrm>
          <a:prstGeom prst="rect">
            <a:avLst/>
          </a:prstGeom>
          <a:noFill/>
          <a:ln/>
        </p:spPr>
        <p:txBody>
          <a:bodyPr wrap="square" rtlCol="0" anchor="ctr"/>
          <a:lstStyle/>
          <a:p>
            <a:pPr indent="0" marL="0">
              <a:buNone/>
            </a:pPr>
            <a:r>
              <a:rPr lang="en-US" sz="1250" i="1" dirty="0">
                <a:solidFill>
                  <a:srgbClr val="333333"/>
                </a:solidFill>
                <a:latin typeface="Calibri" pitchFamily="34" charset="0"/>
                <a:ea typeface="Calibri" pitchFamily="34" charset="-122"/>
                <a:cs typeface="Calibri" pitchFamily="34" charset="-120"/>
              </a:rPr>
              <a:t>As you move through this week's content, focus on connecting the concepts — CIA Triad, business IT dependence, and technology risk — to real organizations you interact with every day.</a:t>
            </a:r>
            <a:endParaRPr lang="en-US" sz="1250" dirty="0"/>
          </a:p>
        </p:txBody>
      </p:sp>
      <p:sp>
        <p:nvSpPr>
          <p:cNvPr id="7" name="Text 4"/>
          <p:cNvSpPr/>
          <p:nvPr/>
        </p:nvSpPr>
        <p:spPr>
          <a:xfrm>
            <a:off x="411480" y="1810512"/>
            <a:ext cx="4572000" cy="347472"/>
          </a:xfrm>
          <a:prstGeom prst="rect">
            <a:avLst/>
          </a:prstGeom>
          <a:noFill/>
          <a:ln/>
        </p:spPr>
        <p:txBody>
          <a:bodyPr wrap="square" rtlCol="0" anchor="ctr"/>
          <a:lstStyle/>
          <a:p>
            <a:pPr indent="0" marL="0">
              <a:buNone/>
            </a:pPr>
            <a:r>
              <a:rPr lang="en-US" sz="1350" b="1" dirty="0">
                <a:solidFill>
                  <a:srgbClr val="680001"/>
                </a:solidFill>
                <a:latin typeface="Calibri" pitchFamily="34" charset="0"/>
                <a:ea typeface="Calibri" pitchFamily="34" charset="-122"/>
                <a:cs typeface="Calibri" pitchFamily="34" charset="-120"/>
              </a:rPr>
              <a:t>While Reading and Watching This Week:</a:t>
            </a:r>
            <a:endParaRPr lang="en-US" sz="1350" dirty="0"/>
          </a:p>
        </p:txBody>
      </p:sp>
      <p:sp>
        <p:nvSpPr>
          <p:cNvPr id="8" name="Shape 5"/>
          <p:cNvSpPr/>
          <p:nvPr/>
        </p:nvSpPr>
        <p:spPr>
          <a:xfrm>
            <a:off x="365760" y="2212848"/>
            <a:ext cx="8412480" cy="539496"/>
          </a:xfrm>
          <a:prstGeom prst="rect">
            <a:avLst/>
          </a:prstGeom>
          <a:solidFill>
            <a:srgbClr val="FFFFFF"/>
          </a:solidFill>
          <a:ln w="12700">
            <a:solidFill>
              <a:srgbClr val="DDDDDD"/>
            </a:solidFill>
            <a:prstDash val="solid"/>
          </a:ln>
        </p:spPr>
      </p:sp>
      <p:sp>
        <p:nvSpPr>
          <p:cNvPr id="9" name="Shape 6"/>
          <p:cNvSpPr/>
          <p:nvPr/>
        </p:nvSpPr>
        <p:spPr>
          <a:xfrm>
            <a:off x="384048" y="2258568"/>
            <a:ext cx="384048" cy="384048"/>
          </a:xfrm>
          <a:prstGeom prst="ellipse">
            <a:avLst/>
          </a:prstGeom>
          <a:solidFill>
            <a:srgbClr val="680001"/>
          </a:solidFill>
          <a:ln w="12700">
            <a:solidFill>
              <a:srgbClr val="680001"/>
            </a:solidFill>
            <a:prstDash val="solid"/>
          </a:ln>
        </p:spPr>
      </p:sp>
      <p:sp>
        <p:nvSpPr>
          <p:cNvPr id="10" name="Text 7"/>
          <p:cNvSpPr/>
          <p:nvPr/>
        </p:nvSpPr>
        <p:spPr>
          <a:xfrm>
            <a:off x="384048" y="225856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p:nvPr/>
        </p:nvSpPr>
        <p:spPr>
          <a:xfrm>
            <a:off x="896112" y="2249424"/>
            <a:ext cx="7772400" cy="49377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Identify one organization you interact with weekly (bank, hospital, university, retailer) and think about which systems, devices, and data they depend on to serve you.</a:t>
            </a:r>
            <a:endParaRPr lang="en-US" sz="1150" dirty="0"/>
          </a:p>
        </p:txBody>
      </p:sp>
      <p:sp>
        <p:nvSpPr>
          <p:cNvPr id="12" name="Shape 9"/>
          <p:cNvSpPr/>
          <p:nvPr/>
        </p:nvSpPr>
        <p:spPr>
          <a:xfrm>
            <a:off x="365760" y="2816352"/>
            <a:ext cx="8412480" cy="539496"/>
          </a:xfrm>
          <a:prstGeom prst="rect">
            <a:avLst/>
          </a:prstGeom>
          <a:solidFill>
            <a:srgbClr val="F5F5F5"/>
          </a:solidFill>
          <a:ln w="12700">
            <a:solidFill>
              <a:srgbClr val="DDDDDD"/>
            </a:solidFill>
            <a:prstDash val="solid"/>
          </a:ln>
        </p:spPr>
      </p:sp>
      <p:sp>
        <p:nvSpPr>
          <p:cNvPr id="13" name="Shape 10"/>
          <p:cNvSpPr/>
          <p:nvPr/>
        </p:nvSpPr>
        <p:spPr>
          <a:xfrm>
            <a:off x="384048" y="2862072"/>
            <a:ext cx="384048" cy="384048"/>
          </a:xfrm>
          <a:prstGeom prst="ellipse">
            <a:avLst/>
          </a:prstGeom>
          <a:solidFill>
            <a:srgbClr val="680001"/>
          </a:solidFill>
          <a:ln w="12700">
            <a:solidFill>
              <a:srgbClr val="680001"/>
            </a:solidFill>
            <a:prstDash val="solid"/>
          </a:ln>
        </p:spPr>
      </p:sp>
      <p:sp>
        <p:nvSpPr>
          <p:cNvPr id="14" name="Text 11"/>
          <p:cNvSpPr/>
          <p:nvPr/>
        </p:nvSpPr>
        <p:spPr>
          <a:xfrm>
            <a:off x="384048" y="286207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896112" y="2852928"/>
            <a:ext cx="7772400" cy="49377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For each part of the CIA Triad — Confidentiality, Integrity, Availability — ask yourself: what would a failure look like for this organization, and what would the impact be on you as a customer or patient?</a:t>
            </a:r>
            <a:endParaRPr lang="en-US" sz="1150" dirty="0"/>
          </a:p>
        </p:txBody>
      </p:sp>
      <p:sp>
        <p:nvSpPr>
          <p:cNvPr id="16" name="Shape 13"/>
          <p:cNvSpPr/>
          <p:nvPr/>
        </p:nvSpPr>
        <p:spPr>
          <a:xfrm>
            <a:off x="365760" y="3419856"/>
            <a:ext cx="8412480" cy="539496"/>
          </a:xfrm>
          <a:prstGeom prst="rect">
            <a:avLst/>
          </a:prstGeom>
          <a:solidFill>
            <a:srgbClr val="FFFFFF"/>
          </a:solidFill>
          <a:ln w="12700">
            <a:solidFill>
              <a:srgbClr val="DDDDDD"/>
            </a:solidFill>
            <a:prstDash val="solid"/>
          </a:ln>
        </p:spPr>
      </p:sp>
      <p:sp>
        <p:nvSpPr>
          <p:cNvPr id="17" name="Shape 14"/>
          <p:cNvSpPr/>
          <p:nvPr/>
        </p:nvSpPr>
        <p:spPr>
          <a:xfrm>
            <a:off x="384048" y="3465576"/>
            <a:ext cx="384048" cy="384048"/>
          </a:xfrm>
          <a:prstGeom prst="ellipse">
            <a:avLst/>
          </a:prstGeom>
          <a:solidFill>
            <a:srgbClr val="680001"/>
          </a:solidFill>
          <a:ln w="12700">
            <a:solidFill>
              <a:srgbClr val="680001"/>
            </a:solidFill>
            <a:prstDash val="solid"/>
          </a:ln>
        </p:spPr>
      </p:sp>
      <p:sp>
        <p:nvSpPr>
          <p:cNvPr id="18" name="Text 15"/>
          <p:cNvSpPr/>
          <p:nvPr/>
        </p:nvSpPr>
        <p:spPr>
          <a:xfrm>
            <a:off x="384048" y="346557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p:nvPr/>
        </p:nvSpPr>
        <p:spPr>
          <a:xfrm>
            <a:off x="896112" y="3456432"/>
            <a:ext cx="7772400" cy="49377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Notice the difference between how that organization uses technology and what risks they are taking on by using it. Most consumers never think about the second question — start thinking about it now.</a:t>
            </a:r>
            <a:endParaRPr lang="en-US" sz="1150" dirty="0"/>
          </a:p>
        </p:txBody>
      </p:sp>
      <p:sp>
        <p:nvSpPr>
          <p:cNvPr id="20" name="Text 17"/>
          <p:cNvSpPr/>
          <p:nvPr/>
        </p:nvSpPr>
        <p:spPr>
          <a:xfrm>
            <a:off x="411480" y="4078224"/>
            <a:ext cx="2560320" cy="320040"/>
          </a:xfrm>
          <a:prstGeom prst="rect">
            <a:avLst/>
          </a:prstGeom>
          <a:noFill/>
          <a:ln/>
        </p:spPr>
        <p:txBody>
          <a:bodyPr wrap="square" rtlCol="0" anchor="ctr"/>
          <a:lstStyle/>
          <a:p>
            <a:pPr indent="0" marL="0">
              <a:buNone/>
            </a:pPr>
            <a:r>
              <a:rPr lang="en-US" sz="1350" b="1" dirty="0">
                <a:solidFill>
                  <a:srgbClr val="680001"/>
                </a:solidFill>
                <a:latin typeface="Calibri" pitchFamily="34" charset="0"/>
                <a:ea typeface="Calibri" pitchFamily="34" charset="-122"/>
                <a:cs typeface="Calibri" pitchFamily="34" charset="-120"/>
              </a:rPr>
              <a:t>This Week's Assignment:</a:t>
            </a:r>
            <a:endParaRPr lang="en-US" sz="1350" dirty="0"/>
          </a:p>
        </p:txBody>
      </p:sp>
      <p:sp>
        <p:nvSpPr>
          <p:cNvPr id="21" name="Text 18"/>
          <p:cNvSpPr/>
          <p:nvPr/>
        </p:nvSpPr>
        <p:spPr>
          <a:xfrm>
            <a:off x="411480" y="4407408"/>
            <a:ext cx="8321040" cy="32004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Select one real organization and write a 250–300 word analysis identifying: (1) the systems, digital processes, and data they depend on; (2) one potential CIA Triad violation and its likely business consequence; and (3) the distinction between how they use technology and the risks they carry. Cite at least one specific real-world example or news story to support your analysis.</a:t>
            </a:r>
            <a:endParaRPr lang="en-US" sz="1150" dirty="0"/>
          </a:p>
        </p:txBody>
      </p:sp>
      <p:sp>
        <p:nvSpPr>
          <p:cNvPr id="22" name="Shape 19"/>
          <p:cNvSpPr/>
          <p:nvPr/>
        </p:nvSpPr>
        <p:spPr>
          <a:xfrm>
            <a:off x="0" y="4800600"/>
            <a:ext cx="9144000" cy="342900"/>
          </a:xfrm>
          <a:prstGeom prst="rect">
            <a:avLst/>
          </a:prstGeom>
          <a:solidFill>
            <a:srgbClr val="680001"/>
          </a:solidFill>
          <a:ln w="12700">
            <a:solidFill>
              <a:srgbClr val="680001"/>
            </a:solidFill>
            <a:prstDash val="solid"/>
          </a:ln>
        </p:spPr>
      </p:sp>
      <p:sp>
        <p:nvSpPr>
          <p:cNvPr id="23" name="Text 20"/>
          <p:cNvSpPr/>
          <p:nvPr/>
        </p:nvSpPr>
        <p:spPr>
          <a:xfrm>
            <a:off x="274320" y="4818888"/>
            <a:ext cx="4572000" cy="30175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IT260 · IT Risk Management</a:t>
            </a:r>
            <a:endParaRPr lang="en-US" sz="900" dirty="0"/>
          </a:p>
        </p:txBody>
      </p:sp>
      <p:sp>
        <p:nvSpPr>
          <p:cNvPr id="24" name="Text 21"/>
          <p:cNvSpPr/>
          <p:nvPr/>
        </p:nvSpPr>
        <p:spPr>
          <a:xfrm>
            <a:off x="4572000" y="4818888"/>
            <a:ext cx="4297680" cy="301752"/>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University of Northwestern Ohio</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680001"/>
        </a:solidFill>
      </p:bgPr>
    </p:bg>
    <p:spTree>
      <p:nvGrpSpPr>
        <p:cNvPr id="1" name=""/>
        <p:cNvGrpSpPr/>
        <p:nvPr/>
      </p:nvGrpSpPr>
      <p:grpSpPr>
        <a:xfrm>
          <a:off x="0" y="0"/>
          <a:ext cx="0" cy="0"/>
          <a:chOff x="0" y="0"/>
          <a:chExt cx="0" cy="0"/>
        </a:xfrm>
      </p:grpSpPr>
      <p:pic>
        <p:nvPicPr>
          <p:cNvPr id="2" name="Image 0" descr="/home/claude/unoh_logo.png">    </p:cNvPr>
          <p:cNvPicPr>
            <a:picLocks noChangeAspect="1"/>
          </p:cNvPicPr>
          <p:nvPr/>
        </p:nvPicPr>
        <p:blipFill>
          <a:blip r:embed="rId1"/>
          <a:srcRect l="0" r="0" t="0" b="0"/>
          <a:stretch/>
        </p:blipFill>
        <p:spPr>
          <a:xfrm>
            <a:off x="6858000" y="91440"/>
            <a:ext cx="2011680" cy="777240"/>
          </a:xfrm>
          <a:prstGeom prst="rect">
            <a:avLst/>
          </a:prstGeom>
        </p:spPr>
      </p:pic>
      <p:sp>
        <p:nvSpPr>
          <p:cNvPr id="3" name="Text 0"/>
          <p:cNvSpPr/>
          <p:nvPr/>
        </p:nvSpPr>
        <p:spPr>
          <a:xfrm>
            <a:off x="457200" y="164592"/>
            <a:ext cx="6400800" cy="65836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Module 1 · Key Takeaways</a:t>
            </a:r>
            <a:endParaRPr lang="en-US" sz="2800" dirty="0"/>
          </a:p>
        </p:txBody>
      </p:sp>
      <p:sp>
        <p:nvSpPr>
          <p:cNvPr id="4" name="Shape 1"/>
          <p:cNvSpPr/>
          <p:nvPr/>
        </p:nvSpPr>
        <p:spPr>
          <a:xfrm>
            <a:off x="411480" y="1078992"/>
            <a:ext cx="347472" cy="347472"/>
          </a:xfrm>
          <a:prstGeom prst="ellipse">
            <a:avLst/>
          </a:prstGeom>
          <a:solidFill>
            <a:srgbClr val="FFFFFF"/>
          </a:solidFill>
          <a:ln w="12700">
            <a:solidFill>
              <a:srgbClr val="FFFFFF"/>
            </a:solidFill>
            <a:prstDash val="solid"/>
          </a:ln>
        </p:spPr>
      </p:sp>
      <p:sp>
        <p:nvSpPr>
          <p:cNvPr id="5" name="Text 2"/>
          <p:cNvSpPr/>
          <p:nvPr/>
        </p:nvSpPr>
        <p:spPr>
          <a:xfrm>
            <a:off x="411480" y="1078992"/>
            <a:ext cx="347472" cy="347472"/>
          </a:xfrm>
          <a:prstGeom prst="rect">
            <a:avLst/>
          </a:prstGeom>
          <a:noFill/>
          <a:ln/>
        </p:spPr>
        <p:txBody>
          <a:bodyPr wrap="square" rtlCol="0" anchor="ctr"/>
          <a:lstStyle/>
          <a:p>
            <a:pPr algn="ctr" indent="0" marL="0">
              <a:buNone/>
            </a:pPr>
            <a:r>
              <a:rPr lang="en-US" sz="1200" b="1" dirty="0">
                <a:solidFill>
                  <a:srgbClr val="680001"/>
                </a:solidFill>
                <a:latin typeface="Calibri" pitchFamily="34" charset="0"/>
                <a:ea typeface="Calibri" pitchFamily="34" charset="-122"/>
                <a:cs typeface="Calibri" pitchFamily="34" charset="-120"/>
              </a:rPr>
              <a:t>1</a:t>
            </a:r>
            <a:endParaRPr lang="en-US" sz="1200" dirty="0"/>
          </a:p>
        </p:txBody>
      </p:sp>
      <p:sp>
        <p:nvSpPr>
          <p:cNvPr id="6" name="Text 3"/>
          <p:cNvSpPr/>
          <p:nvPr/>
        </p:nvSpPr>
        <p:spPr>
          <a:xfrm>
            <a:off x="896112" y="1051560"/>
            <a:ext cx="7863840" cy="512064"/>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Modern organizations are deeply dependent on information systems, digital processes, and data. That dependence creates unavoidable risk.</a:t>
            </a:r>
            <a:endParaRPr lang="en-US" sz="1250" dirty="0"/>
          </a:p>
        </p:txBody>
      </p:sp>
      <p:sp>
        <p:nvSpPr>
          <p:cNvPr id="7" name="Shape 4"/>
          <p:cNvSpPr/>
          <p:nvPr/>
        </p:nvSpPr>
        <p:spPr>
          <a:xfrm>
            <a:off x="411480" y="1700784"/>
            <a:ext cx="347472" cy="347472"/>
          </a:xfrm>
          <a:prstGeom prst="ellipse">
            <a:avLst/>
          </a:prstGeom>
          <a:solidFill>
            <a:srgbClr val="FFFFFF"/>
          </a:solidFill>
          <a:ln w="12700">
            <a:solidFill>
              <a:srgbClr val="FFFFFF"/>
            </a:solidFill>
            <a:prstDash val="solid"/>
          </a:ln>
        </p:spPr>
      </p:sp>
      <p:sp>
        <p:nvSpPr>
          <p:cNvPr id="8" name="Text 5"/>
          <p:cNvSpPr/>
          <p:nvPr/>
        </p:nvSpPr>
        <p:spPr>
          <a:xfrm>
            <a:off x="411480" y="1700784"/>
            <a:ext cx="347472" cy="347472"/>
          </a:xfrm>
          <a:prstGeom prst="rect">
            <a:avLst/>
          </a:prstGeom>
          <a:noFill/>
          <a:ln/>
        </p:spPr>
        <p:txBody>
          <a:bodyPr wrap="square" rtlCol="0" anchor="ctr"/>
          <a:lstStyle/>
          <a:p>
            <a:pPr algn="ctr" indent="0" marL="0">
              <a:buNone/>
            </a:pPr>
            <a:r>
              <a:rPr lang="en-US" sz="1200" b="1" dirty="0">
                <a:solidFill>
                  <a:srgbClr val="680001"/>
                </a:solidFill>
                <a:latin typeface="Calibri" pitchFamily="34" charset="0"/>
                <a:ea typeface="Calibri" pitchFamily="34" charset="-122"/>
                <a:cs typeface="Calibri" pitchFamily="34" charset="-120"/>
              </a:rPr>
              <a:t>2</a:t>
            </a:r>
            <a:endParaRPr lang="en-US" sz="1200" dirty="0"/>
          </a:p>
        </p:txBody>
      </p:sp>
      <p:sp>
        <p:nvSpPr>
          <p:cNvPr id="9" name="Text 6"/>
          <p:cNvSpPr/>
          <p:nvPr/>
        </p:nvSpPr>
        <p:spPr>
          <a:xfrm>
            <a:off x="896112" y="1673352"/>
            <a:ext cx="7863840" cy="512064"/>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CIA Triad — Confidentiality, Integrity, Availability — is the foundation of information security. Every risk in this course connects to one or more of these three properties.</a:t>
            </a:r>
            <a:endParaRPr lang="en-US" sz="1250" dirty="0"/>
          </a:p>
        </p:txBody>
      </p:sp>
      <p:sp>
        <p:nvSpPr>
          <p:cNvPr id="10" name="Shape 7"/>
          <p:cNvSpPr/>
          <p:nvPr/>
        </p:nvSpPr>
        <p:spPr>
          <a:xfrm>
            <a:off x="411480" y="2322576"/>
            <a:ext cx="347472" cy="347472"/>
          </a:xfrm>
          <a:prstGeom prst="ellipse">
            <a:avLst/>
          </a:prstGeom>
          <a:solidFill>
            <a:srgbClr val="FFFFFF"/>
          </a:solidFill>
          <a:ln w="12700">
            <a:solidFill>
              <a:srgbClr val="FFFFFF"/>
            </a:solidFill>
            <a:prstDash val="solid"/>
          </a:ln>
        </p:spPr>
      </p:sp>
      <p:sp>
        <p:nvSpPr>
          <p:cNvPr id="11" name="Text 8"/>
          <p:cNvSpPr/>
          <p:nvPr/>
        </p:nvSpPr>
        <p:spPr>
          <a:xfrm>
            <a:off x="411480" y="2322576"/>
            <a:ext cx="347472" cy="347472"/>
          </a:xfrm>
          <a:prstGeom prst="rect">
            <a:avLst/>
          </a:prstGeom>
          <a:noFill/>
          <a:ln/>
        </p:spPr>
        <p:txBody>
          <a:bodyPr wrap="square" rtlCol="0" anchor="ctr"/>
          <a:lstStyle/>
          <a:p>
            <a:pPr algn="ctr" indent="0" marL="0">
              <a:buNone/>
            </a:pPr>
            <a:r>
              <a:rPr lang="en-US" sz="1200" b="1" dirty="0">
                <a:solidFill>
                  <a:srgbClr val="680001"/>
                </a:solidFill>
                <a:latin typeface="Calibri" pitchFamily="34" charset="0"/>
                <a:ea typeface="Calibri" pitchFamily="34" charset="-122"/>
                <a:cs typeface="Calibri" pitchFamily="34" charset="-120"/>
              </a:rPr>
              <a:t>3</a:t>
            </a:r>
            <a:endParaRPr lang="en-US" sz="1200" dirty="0"/>
          </a:p>
        </p:txBody>
      </p:sp>
      <p:sp>
        <p:nvSpPr>
          <p:cNvPr id="12" name="Text 9"/>
          <p:cNvSpPr/>
          <p:nvPr/>
        </p:nvSpPr>
        <p:spPr>
          <a:xfrm>
            <a:off x="896112" y="2295144"/>
            <a:ext cx="7863840" cy="512064"/>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Confidentiality violations expose data to unauthorized parties. Integrity violations corrupt the accuracy of data. Availability violations prevent access to data when needed.</a:t>
            </a:r>
            <a:endParaRPr lang="en-US" sz="1250" dirty="0"/>
          </a:p>
        </p:txBody>
      </p:sp>
      <p:sp>
        <p:nvSpPr>
          <p:cNvPr id="13" name="Shape 10"/>
          <p:cNvSpPr/>
          <p:nvPr/>
        </p:nvSpPr>
        <p:spPr>
          <a:xfrm>
            <a:off x="411480" y="2944368"/>
            <a:ext cx="347472" cy="347472"/>
          </a:xfrm>
          <a:prstGeom prst="ellipse">
            <a:avLst/>
          </a:prstGeom>
          <a:solidFill>
            <a:srgbClr val="FFFFFF"/>
          </a:solidFill>
          <a:ln w="12700">
            <a:solidFill>
              <a:srgbClr val="FFFFFF"/>
            </a:solidFill>
            <a:prstDash val="solid"/>
          </a:ln>
        </p:spPr>
      </p:sp>
      <p:sp>
        <p:nvSpPr>
          <p:cNvPr id="14" name="Text 11"/>
          <p:cNvSpPr/>
          <p:nvPr/>
        </p:nvSpPr>
        <p:spPr>
          <a:xfrm>
            <a:off x="411480" y="2944368"/>
            <a:ext cx="347472" cy="347472"/>
          </a:xfrm>
          <a:prstGeom prst="rect">
            <a:avLst/>
          </a:prstGeom>
          <a:noFill/>
          <a:ln/>
        </p:spPr>
        <p:txBody>
          <a:bodyPr wrap="square" rtlCol="0" anchor="ctr"/>
          <a:lstStyle/>
          <a:p>
            <a:pPr algn="ctr" indent="0" marL="0">
              <a:buNone/>
            </a:pPr>
            <a:r>
              <a:rPr lang="en-US" sz="1200" b="1" dirty="0">
                <a:solidFill>
                  <a:srgbClr val="680001"/>
                </a:solidFill>
                <a:latin typeface="Calibri" pitchFamily="34" charset="0"/>
                <a:ea typeface="Calibri" pitchFamily="34" charset="-122"/>
                <a:cs typeface="Calibri" pitchFamily="34" charset="-120"/>
              </a:rPr>
              <a:t>4</a:t>
            </a:r>
            <a:endParaRPr lang="en-US" sz="1200" dirty="0"/>
          </a:p>
        </p:txBody>
      </p:sp>
      <p:sp>
        <p:nvSpPr>
          <p:cNvPr id="15" name="Text 12"/>
          <p:cNvSpPr/>
          <p:nvPr/>
        </p:nvSpPr>
        <p:spPr>
          <a:xfrm>
            <a:off x="896112" y="2916936"/>
            <a:ext cx="7863840" cy="512064"/>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CIA Triad failures have direct consequences for operations (work stops), finances (fines, costs, lost revenue), and reputation (customer trust, media coverage, long-term brand damage).</a:t>
            </a:r>
            <a:endParaRPr lang="en-US" sz="1250" dirty="0"/>
          </a:p>
        </p:txBody>
      </p:sp>
      <p:sp>
        <p:nvSpPr>
          <p:cNvPr id="16" name="Shape 13"/>
          <p:cNvSpPr/>
          <p:nvPr/>
        </p:nvSpPr>
        <p:spPr>
          <a:xfrm>
            <a:off x="411480" y="3566160"/>
            <a:ext cx="347472" cy="347472"/>
          </a:xfrm>
          <a:prstGeom prst="ellipse">
            <a:avLst/>
          </a:prstGeom>
          <a:solidFill>
            <a:srgbClr val="FFFFFF"/>
          </a:solidFill>
          <a:ln w="12700">
            <a:solidFill>
              <a:srgbClr val="FFFFFF"/>
            </a:solidFill>
            <a:prstDash val="solid"/>
          </a:ln>
        </p:spPr>
      </p:sp>
      <p:sp>
        <p:nvSpPr>
          <p:cNvPr id="17" name="Text 14"/>
          <p:cNvSpPr/>
          <p:nvPr/>
        </p:nvSpPr>
        <p:spPr>
          <a:xfrm>
            <a:off x="411480" y="3566160"/>
            <a:ext cx="347472" cy="347472"/>
          </a:xfrm>
          <a:prstGeom prst="rect">
            <a:avLst/>
          </a:prstGeom>
          <a:noFill/>
          <a:ln/>
        </p:spPr>
        <p:txBody>
          <a:bodyPr wrap="square" rtlCol="0" anchor="ctr"/>
          <a:lstStyle/>
          <a:p>
            <a:pPr algn="ctr" indent="0" marL="0">
              <a:buNone/>
            </a:pPr>
            <a:r>
              <a:rPr lang="en-US" sz="1200" b="1" dirty="0">
                <a:solidFill>
                  <a:srgbClr val="680001"/>
                </a:solidFill>
                <a:latin typeface="Calibri" pitchFamily="34" charset="0"/>
                <a:ea typeface="Calibri" pitchFamily="34" charset="-122"/>
                <a:cs typeface="Calibri" pitchFamily="34" charset="-120"/>
              </a:rPr>
              <a:t>5</a:t>
            </a:r>
            <a:endParaRPr lang="en-US" sz="1200" dirty="0"/>
          </a:p>
        </p:txBody>
      </p:sp>
      <p:sp>
        <p:nvSpPr>
          <p:cNvPr id="18" name="Text 15"/>
          <p:cNvSpPr/>
          <p:nvPr/>
        </p:nvSpPr>
        <p:spPr>
          <a:xfrm>
            <a:off x="896112" y="3538728"/>
            <a:ext cx="7863840" cy="512064"/>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Technology use and technology risk are not the same thing. Using a system does not automatically mean you are managing the risks that system introduces.</a:t>
            </a:r>
            <a:endParaRPr lang="en-US" sz="1250" dirty="0"/>
          </a:p>
        </p:txBody>
      </p:sp>
      <p:sp>
        <p:nvSpPr>
          <p:cNvPr id="19" name="Shape 16"/>
          <p:cNvSpPr/>
          <p:nvPr/>
        </p:nvSpPr>
        <p:spPr>
          <a:xfrm>
            <a:off x="411480" y="4187952"/>
            <a:ext cx="347472" cy="347472"/>
          </a:xfrm>
          <a:prstGeom prst="ellipse">
            <a:avLst/>
          </a:prstGeom>
          <a:solidFill>
            <a:srgbClr val="FFFFFF"/>
          </a:solidFill>
          <a:ln w="12700">
            <a:solidFill>
              <a:srgbClr val="FFFFFF"/>
            </a:solidFill>
            <a:prstDash val="solid"/>
          </a:ln>
        </p:spPr>
      </p:sp>
      <p:sp>
        <p:nvSpPr>
          <p:cNvPr id="20" name="Text 17"/>
          <p:cNvSpPr/>
          <p:nvPr/>
        </p:nvSpPr>
        <p:spPr>
          <a:xfrm>
            <a:off x="411480" y="4187952"/>
            <a:ext cx="347472" cy="347472"/>
          </a:xfrm>
          <a:prstGeom prst="rect">
            <a:avLst/>
          </a:prstGeom>
          <a:noFill/>
          <a:ln/>
        </p:spPr>
        <p:txBody>
          <a:bodyPr wrap="square" rtlCol="0" anchor="ctr"/>
          <a:lstStyle/>
          <a:p>
            <a:pPr algn="ctr" indent="0" marL="0">
              <a:buNone/>
            </a:pPr>
            <a:r>
              <a:rPr lang="en-US" sz="1200" b="1" dirty="0">
                <a:solidFill>
                  <a:srgbClr val="680001"/>
                </a:solidFill>
                <a:latin typeface="Calibri" pitchFamily="34" charset="0"/>
                <a:ea typeface="Calibri" pitchFamily="34" charset="-122"/>
                <a:cs typeface="Calibri" pitchFamily="34" charset="-120"/>
              </a:rPr>
              <a:t>6</a:t>
            </a:r>
            <a:endParaRPr lang="en-US" sz="1200" dirty="0"/>
          </a:p>
        </p:txBody>
      </p:sp>
      <p:sp>
        <p:nvSpPr>
          <p:cNvPr id="21" name="Text 18"/>
          <p:cNvSpPr/>
          <p:nvPr/>
        </p:nvSpPr>
        <p:spPr>
          <a:xfrm>
            <a:off x="896112" y="4160520"/>
            <a:ext cx="7863840" cy="512064"/>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Disruptions to systems, devices, and data ripple across the entire organization — not just the IT department. Risk management is therefore a business discipline, not a technical one.</a:t>
            </a:r>
            <a:endParaRPr lang="en-US" sz="1250" dirty="0"/>
          </a:p>
        </p:txBody>
      </p:sp>
      <p:sp>
        <p:nvSpPr>
          <p:cNvPr id="22" name="Text 19"/>
          <p:cNvSpPr/>
          <p:nvPr/>
        </p:nvSpPr>
        <p:spPr>
          <a:xfrm>
            <a:off x="457200" y="4663440"/>
            <a:ext cx="8229600" cy="320040"/>
          </a:xfrm>
          <a:prstGeom prst="rect">
            <a:avLst/>
          </a:prstGeom>
          <a:noFill/>
          <a:ln/>
        </p:spPr>
        <p:txBody>
          <a:bodyPr wrap="square" rtlCol="0" anchor="ctr"/>
          <a:lstStyle/>
          <a:p>
            <a:pPr algn="ctr" indent="0" marL="0">
              <a:buNone/>
            </a:pPr>
            <a:r>
              <a:rPr lang="en-US" sz="1200" i="1" dirty="0">
                <a:solidFill>
                  <a:srgbClr val="F5C0C0"/>
                </a:solidFill>
                <a:latin typeface="Calibri" pitchFamily="34" charset="0"/>
                <a:ea typeface="Calibri" pitchFamily="34" charset="-122"/>
                <a:cs typeface="Calibri" pitchFamily="34" charset="-120"/>
              </a:rPr>
              <a:t>Next: Module 2 — Threats, Vulnerabilities, and How Risks Form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IT260 - Module 1: Introduction to IT Risk Management</dc:title>
  <dc:subject>PptxGenJS Presentation</dc:subject>
  <dc:creator>Professor Martin</dc:creator>
  <cp:lastModifiedBy>Professor Martin</cp:lastModifiedBy>
  <cp:revision>1</cp:revision>
  <dcterms:created xsi:type="dcterms:W3CDTF">2026-04-02T14:17:16Z</dcterms:created>
  <dcterms:modified xsi:type="dcterms:W3CDTF">2026-04-02T14:17:16Z</dcterms:modified>
</cp:coreProperties>
</file>